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68B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822960"/>
            <a:ext cx="1920240" cy="192024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04120" y="1234440"/>
            <a:ext cx="1097280" cy="1097280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554480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8680" y="1417320"/>
            <a:ext cx="3977640" cy="420624"/>
          </a:xfrm>
          <a:prstGeom prst="roundRect">
            <a:avLst>
              <a:gd name="adj" fmla="val 50000"/>
            </a:avLst>
          </a:prstGeom>
          <a:ln w="12700">
            <a:solidFill>
              <a:srgbClr val="8FC6E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" y="1417320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FE9F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AI駆動開発 導入のご提案（第2回）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41248" y="2148840"/>
            <a:ext cx="10332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コストを抑え、内製化を進める</a:t>
            </a:r>
            <a:endParaRPr lang="en-US" sz="3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AI駆動開発 段階的導入のご提案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868680" y="41605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CEEF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現在の開発・運用のうち「AIに任せられる作業」から切り出し、お客様自身で回せる範囲（内製）を計画的に広げます。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6868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4E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2026年6月　｜　ご提案資料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475488" cy="475488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41148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219456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前回のご提案を踏まえて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1188720" y="82296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いただいたご反応・ご懸念を整理し、それぞれに対する今回の打ち手を明確にします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201400" y="2743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9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88720" y="117043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 コスト最適化が重要な経営テーマと伺っており、その前提でご提案します。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1463040"/>
            <a:ext cx="3474720" cy="2724912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86384" y="1682496"/>
            <a:ext cx="512064" cy="512064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10512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1700784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運用保守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3063240" y="1737360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2E9E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63240" y="173736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ご関心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786384" y="2322576"/>
            <a:ext cx="2999232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04672" y="241401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いただいたお声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804672" y="2624328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Jiraでの問い合わせ対応にご関心。</a:t>
            </a:r>
            <a:endParaRPr lang="en-US" sz="11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既に運用中で効果を出しやすい。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804672" y="325526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今回のご提案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804672" y="3465576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一次受けから着手し、</a:t>
            </a:r>
            <a:endParaRPr lang="en-US" sz="11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早期に効果を実感いただきます。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343400" y="1463040"/>
            <a:ext cx="3474720" cy="2724912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581144" y="1682496"/>
            <a:ext cx="512064" cy="512064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810512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212080" y="1700784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システム開発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6858000" y="1737360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5A64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858000" y="173736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継続検討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4581144" y="2322576"/>
            <a:ext cx="2999232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599432" y="241401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いただいたお声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4599432" y="2624328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全面適用は時期尚早だが、</a:t>
            </a:r>
            <a:endParaRPr lang="en-US" sz="11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自動化の余地はある。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4599432" y="325526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今回のご提案</a:t>
            </a:r>
            <a:endParaRPr lang="en-US" sz="950" dirty="0"/>
          </a:p>
        </p:txBody>
      </p:sp>
      <p:sp>
        <p:nvSpPr>
          <p:cNvPr id="29" name="Text 24"/>
          <p:cNvSpPr/>
          <p:nvPr/>
        </p:nvSpPr>
        <p:spPr>
          <a:xfrm>
            <a:off x="4599432" y="3465576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工程を切り出し、置き換え可能な</a:t>
            </a:r>
            <a:endParaRPr lang="en-US" sz="11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作業から段階的に適用します。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8138160" y="1463040"/>
            <a:ext cx="3474720" cy="2724912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8375904" y="1682496"/>
            <a:ext cx="512064" cy="512064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0" y="1810512"/>
            <a:ext cx="256032" cy="256032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9006840" y="1700784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AI駆動開発</a:t>
            </a:r>
            <a:endParaRPr lang="en-US" sz="1500" dirty="0"/>
          </a:p>
        </p:txBody>
      </p:sp>
      <p:sp>
        <p:nvSpPr>
          <p:cNvPr id="34" name="Shape 28"/>
          <p:cNvSpPr/>
          <p:nvPr/>
        </p:nvSpPr>
        <p:spPr>
          <a:xfrm>
            <a:off x="10652760" y="1737360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091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10652760" y="173736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ご懸念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8375904" y="2322576"/>
            <a:ext cx="2999232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8394192" y="241401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いただいたお声</a:t>
            </a:r>
            <a:endParaRPr lang="en-US" sz="950" dirty="0"/>
          </a:p>
        </p:txBody>
      </p:sp>
      <p:sp>
        <p:nvSpPr>
          <p:cNvPr id="38" name="Text 32"/>
          <p:cNvSpPr/>
          <p:nvPr/>
        </p:nvSpPr>
        <p:spPr>
          <a:xfrm>
            <a:off x="8394192" y="2624328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ナレッジベース構築にかかる</a:t>
            </a:r>
            <a:endParaRPr lang="en-US" sz="11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SI費用にご懸念。</a:t>
            </a:r>
            <a:endParaRPr lang="en-US" sz="1100" dirty="0"/>
          </a:p>
        </p:txBody>
      </p:sp>
      <p:sp>
        <p:nvSpPr>
          <p:cNvPr id="39" name="Text 33"/>
          <p:cNvSpPr/>
          <p:nvPr/>
        </p:nvSpPr>
        <p:spPr>
          <a:xfrm>
            <a:off x="8394192" y="325526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今回のご提案</a:t>
            </a:r>
            <a:endParaRPr lang="en-US" sz="950" dirty="0"/>
          </a:p>
        </p:txBody>
      </p:sp>
      <p:sp>
        <p:nvSpPr>
          <p:cNvPr id="40" name="Text 34"/>
          <p:cNvSpPr/>
          <p:nvPr/>
        </p:nvSpPr>
        <p:spPr>
          <a:xfrm>
            <a:off x="8394192" y="3465576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既存資産＋テンプレート活用で</a:t>
            </a:r>
            <a:endParaRPr lang="en-US" sz="1100" dirty="0"/>
          </a:p>
          <a:p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SI費を圧縮します（後述）。</a:t>
            </a:r>
            <a:endParaRPr lang="en-US" sz="1100" dirty="0"/>
          </a:p>
        </p:txBody>
      </p:sp>
      <p:sp>
        <p:nvSpPr>
          <p:cNvPr id="41" name="Shape 35"/>
          <p:cNvSpPr/>
          <p:nvPr/>
        </p:nvSpPr>
        <p:spPr>
          <a:xfrm>
            <a:off x="548640" y="4315968"/>
            <a:ext cx="11064240" cy="1298448"/>
          </a:xfrm>
          <a:prstGeom prst="roundRect">
            <a:avLst>
              <a:gd name="adj" fmla="val 7042"/>
            </a:avLst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42" name="Shape 36"/>
          <p:cNvSpPr/>
          <p:nvPr/>
        </p:nvSpPr>
        <p:spPr>
          <a:xfrm>
            <a:off x="914400" y="4690872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4828032"/>
            <a:ext cx="274320" cy="274320"/>
          </a:xfrm>
          <a:prstGeom prst="rect">
            <a:avLst/>
          </a:prstGeom>
        </p:spPr>
      </p:pic>
      <p:sp>
        <p:nvSpPr>
          <p:cNvPr id="44" name="Shape 37"/>
          <p:cNvSpPr/>
          <p:nvPr/>
        </p:nvSpPr>
        <p:spPr>
          <a:xfrm>
            <a:off x="914400" y="4690872"/>
            <a:ext cx="548640" cy="548640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560" y="4828032"/>
            <a:ext cx="274320" cy="274320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1691640" y="449884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FE2F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本日のご提案テーマ</a:t>
            </a:r>
            <a:endParaRPr lang="en-US" sz="1200" dirty="0"/>
          </a:p>
        </p:txBody>
      </p:sp>
      <p:sp>
        <p:nvSpPr>
          <p:cNvPr id="47" name="Text 39"/>
          <p:cNvSpPr/>
          <p:nvPr/>
        </p:nvSpPr>
        <p:spPr>
          <a:xfrm>
            <a:off x="1691640" y="4828032"/>
            <a:ext cx="9692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大きな投資ではなく、段階的・部分適用で「コストを抑えながら内製化を進める」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475488" cy="475488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41148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219456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ご提案の基本方針：一気にではなく、段階的に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1188720" y="82296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全工程を一度に置き換えるのではなく、作業を切り出してAIに任せ、内製範囲を計画的に広げます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201400" y="2743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539496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1764792"/>
            <a:ext cx="475488" cy="475488"/>
          </a:xfrm>
          <a:prstGeom prst="ellipse">
            <a:avLst/>
          </a:prstGeom>
          <a:solidFill>
            <a:srgbClr val="FBEEE3"/>
          </a:solidFill>
          <a:ln w="12700">
            <a:solidFill>
              <a:srgbClr val="F0D6B8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1883664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78308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9B6A2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一気に全置き換え（難しい）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1005840" y="242316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初期コスト・リスクが大きく、投資判断が重い</a:t>
            </a:r>
            <a:endParaRPr lang="en-US" sz="12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効果が出る前に頓挫し、現場が混乱しやすい</a:t>
            </a:r>
            <a:endParaRPr lang="en-US" sz="12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業務知識の整理が追いつかず形骸化する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217920" y="1508760"/>
            <a:ext cx="5394960" cy="1874520"/>
          </a:xfrm>
          <a:prstGeom prst="roundRect">
            <a:avLst>
              <a:gd name="adj" fmla="val 4390"/>
            </a:avLst>
          </a:prstGeom>
          <a:solidFill>
            <a:srgbClr val="EAF6FC"/>
          </a:solidFill>
          <a:ln w="15875">
            <a:solidFill>
              <a:srgbClr val="0094DC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492240" y="1764792"/>
            <a:ext cx="475488" cy="475488"/>
          </a:xfrm>
          <a:prstGeom prst="ellipse">
            <a:avLst/>
          </a:prstGeom>
          <a:solidFill>
            <a:srgbClr val="E2F3EA"/>
          </a:solidFill>
          <a:ln w="12700">
            <a:solidFill>
              <a:srgbClr val="BFE3D2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1883664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086600" y="178308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段階的に部分適用（おすすめ）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6675120" y="242316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小さく始め、低リスク・低コストで検証できる</a:t>
            </a:r>
            <a:endParaRPr lang="en-US" sz="12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効果を確認しながら適用範囲を広げられる</a:t>
            </a:r>
            <a:endParaRPr lang="en-US" sz="12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SI依存を減らし、内製でできる範囲が増える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40080" y="3886200"/>
            <a:ext cx="2377440" cy="841248"/>
          </a:xfrm>
          <a:prstGeom prst="roundRect">
            <a:avLst>
              <a:gd name="adj" fmla="val 10870"/>
            </a:avLst>
          </a:prstGeom>
          <a:solidFill>
            <a:srgbClr val="9CCBE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04672" y="4123944"/>
            <a:ext cx="365760" cy="365760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804672" y="4123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5E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1243584" y="3886200"/>
            <a:ext cx="16824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切り出す</a:t>
            </a:r>
            <a:endParaRPr lang="en-US" sz="1350" dirty="0"/>
          </a:p>
        </p:txBody>
      </p:sp>
      <p:sp>
        <p:nvSpPr>
          <p:cNvPr id="21" name="Shape 16"/>
          <p:cNvSpPr/>
          <p:nvPr/>
        </p:nvSpPr>
        <p:spPr>
          <a:xfrm>
            <a:off x="3072384" y="4215384"/>
            <a:ext cx="301752" cy="182880"/>
          </a:xfrm>
          <a:prstGeom prst="rightArrow">
            <a:avLst/>
          </a:prstGeom>
          <a:solidFill>
            <a:srgbClr val="98AE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3429000" y="3886200"/>
            <a:ext cx="2377440" cy="841248"/>
          </a:xfrm>
          <a:prstGeom prst="roundRect">
            <a:avLst>
              <a:gd name="adj" fmla="val 10870"/>
            </a:avLst>
          </a:prstGeom>
          <a:solidFill>
            <a:srgbClr val="5FAFDD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3593592" y="4123944"/>
            <a:ext cx="365760" cy="365760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3593592" y="4123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5E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4032504" y="3886200"/>
            <a:ext cx="16824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AIに任せる</a:t>
            </a:r>
            <a:endParaRPr lang="en-US" sz="1350" dirty="0"/>
          </a:p>
        </p:txBody>
      </p:sp>
      <p:sp>
        <p:nvSpPr>
          <p:cNvPr id="26" name="Shape 21"/>
          <p:cNvSpPr/>
          <p:nvPr/>
        </p:nvSpPr>
        <p:spPr>
          <a:xfrm>
            <a:off x="5861304" y="4215384"/>
            <a:ext cx="301752" cy="182880"/>
          </a:xfrm>
          <a:prstGeom prst="rightArrow">
            <a:avLst/>
          </a:prstGeom>
          <a:solidFill>
            <a:srgbClr val="98AE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217920" y="3886200"/>
            <a:ext cx="2377440" cy="841248"/>
          </a:xfrm>
          <a:prstGeom prst="roundRect">
            <a:avLst>
              <a:gd name="adj" fmla="val 10870"/>
            </a:avLst>
          </a:prstGeom>
          <a:solidFill>
            <a:srgbClr val="2E8FC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6382512" y="4123944"/>
            <a:ext cx="365760" cy="365760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6382512" y="4123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5E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6821424" y="3886200"/>
            <a:ext cx="16824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範囲を拡げる</a:t>
            </a:r>
            <a:endParaRPr lang="en-US" sz="1350" dirty="0"/>
          </a:p>
        </p:txBody>
      </p:sp>
      <p:sp>
        <p:nvSpPr>
          <p:cNvPr id="31" name="Shape 26"/>
          <p:cNvSpPr/>
          <p:nvPr/>
        </p:nvSpPr>
        <p:spPr>
          <a:xfrm>
            <a:off x="8650224" y="4215384"/>
            <a:ext cx="301752" cy="182880"/>
          </a:xfrm>
          <a:prstGeom prst="rightArrow">
            <a:avLst/>
          </a:prstGeom>
          <a:solidFill>
            <a:srgbClr val="98AE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9006840" y="3886200"/>
            <a:ext cx="2377440" cy="841248"/>
          </a:xfrm>
          <a:prstGeom prst="roundRect">
            <a:avLst>
              <a:gd name="adj" fmla="val 10870"/>
            </a:avLst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9171432" y="4123944"/>
            <a:ext cx="365760" cy="365760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9171432" y="4123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6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35" name="Text 30"/>
          <p:cNvSpPr/>
          <p:nvPr/>
        </p:nvSpPr>
        <p:spPr>
          <a:xfrm>
            <a:off x="9610344" y="3886200"/>
            <a:ext cx="16824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内製化（自走）</a:t>
            </a:r>
            <a:endParaRPr lang="en-US" sz="1350" dirty="0"/>
          </a:p>
        </p:txBody>
      </p:sp>
      <p:sp>
        <p:nvSpPr>
          <p:cNvPr id="36" name="Shape 31"/>
          <p:cNvSpPr/>
          <p:nvPr/>
        </p:nvSpPr>
        <p:spPr>
          <a:xfrm>
            <a:off x="640080" y="5074920"/>
            <a:ext cx="3108960" cy="384048"/>
          </a:xfrm>
          <a:prstGeom prst="roundRect">
            <a:avLst>
              <a:gd name="adj" fmla="val 50000"/>
            </a:avLst>
          </a:prstGeom>
          <a:ln w="12700">
            <a:solidFill>
              <a:srgbClr val="0068B7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640080" y="50749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SIへの依存：減少 ↓</a:t>
            </a:r>
            <a:endParaRPr lang="en-US" sz="1100" dirty="0"/>
          </a:p>
        </p:txBody>
      </p:sp>
      <p:sp>
        <p:nvSpPr>
          <p:cNvPr id="38" name="Shape 33"/>
          <p:cNvSpPr/>
          <p:nvPr/>
        </p:nvSpPr>
        <p:spPr>
          <a:xfrm>
            <a:off x="8275320" y="5074920"/>
            <a:ext cx="3108960" cy="384048"/>
          </a:xfrm>
          <a:prstGeom prst="roundRect">
            <a:avLst>
              <a:gd name="adj" fmla="val 50000"/>
            </a:avLst>
          </a:prstGeom>
          <a:solidFill>
            <a:srgbClr val="2E9E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8275320" y="50749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お客様の内製範囲：拡大 ↑</a:t>
            </a:r>
            <a:endParaRPr lang="en-US" sz="1100" dirty="0"/>
          </a:p>
        </p:txBody>
      </p:sp>
      <p:sp>
        <p:nvSpPr>
          <p:cNvPr id="40" name="Text 35"/>
          <p:cNvSpPr/>
          <p:nvPr/>
        </p:nvSpPr>
        <p:spPr>
          <a:xfrm>
            <a:off x="640080" y="5650992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 本日は「どの作業をAIに任せられるか（次ページ）」と「どこから始め、どこをゴールにするか」を具体化します。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475488" cy="475488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41148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219456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工程別：AIエージェントに置き換えられる作業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1188720" y="82296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要件定義から保守・運用まで。色が濃いほどAIに任せられる作業です（判断・現場対話は人が担当）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201400" y="2743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315200" y="1298448"/>
            <a:ext cx="292608" cy="237744"/>
          </a:xfrm>
          <a:prstGeom prst="roundRect">
            <a:avLst>
              <a:gd name="adj" fmla="val 15385"/>
            </a:avLst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80960" y="125272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置き換え可能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8823960" y="1298448"/>
            <a:ext cx="292608" cy="237744"/>
          </a:xfrm>
          <a:prstGeom prst="roundRect">
            <a:avLst>
              <a:gd name="adj" fmla="val 15385"/>
            </a:avLst>
          </a:prstGeom>
          <a:solidFill>
            <a:srgbClr val="CDEA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89720" y="125272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一部支援（AI補助）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10789920" y="1298448"/>
            <a:ext cx="292608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55680" y="125272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人が主導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84048" y="1755648"/>
            <a:ext cx="1810512" cy="420624"/>
          </a:xfrm>
          <a:prstGeom prst="roundRect">
            <a:avLst>
              <a:gd name="adj" fmla="val 13043"/>
            </a:avLst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84048" y="1755648"/>
            <a:ext cx="1810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FCDE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　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要件定義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199132" y="1901952"/>
            <a:ext cx="100584" cy="128016"/>
          </a:xfrm>
          <a:prstGeom prst="rightArrow">
            <a:avLst/>
          </a:prstGeom>
          <a:solidFill>
            <a:srgbClr val="98AE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84048" y="2286000"/>
            <a:ext cx="1810512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75488" y="2286000"/>
            <a:ext cx="162763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各工場担当者へのヒアリング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84048" y="3273552"/>
            <a:ext cx="1810512" cy="877824"/>
          </a:xfrm>
          <a:prstGeom prst="roundRect">
            <a:avLst>
              <a:gd name="adj" fmla="val 7292"/>
            </a:avLst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75488" y="3273552"/>
            <a:ext cx="162763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ヒアリング結果の要件整理・文書化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84048" y="4261104"/>
            <a:ext cx="1810512" cy="877824"/>
          </a:xfrm>
          <a:prstGeom prst="roundRect">
            <a:avLst>
              <a:gd name="adj" fmla="val 7292"/>
            </a:avLst>
          </a:prstGeom>
          <a:solidFill>
            <a:srgbClr val="CDEA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5488" y="4261104"/>
            <a:ext cx="162763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抜け漏れ・曖昧点の洗い出し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2304288" y="1755648"/>
            <a:ext cx="1810512" cy="420624"/>
          </a:xfrm>
          <a:prstGeom prst="roundRect">
            <a:avLst>
              <a:gd name="adj" fmla="val 13043"/>
            </a:avLst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304288" y="1755648"/>
            <a:ext cx="1810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FCDE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　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設計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119372" y="1901952"/>
            <a:ext cx="100584" cy="128016"/>
          </a:xfrm>
          <a:prstGeom prst="rightArrow">
            <a:avLst/>
          </a:prstGeom>
          <a:solidFill>
            <a:srgbClr val="98AE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304288" y="2286000"/>
            <a:ext cx="1810512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2395728" y="2286000"/>
            <a:ext cx="162763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方式・アーキテクチャ設計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2304288" y="3273552"/>
            <a:ext cx="1810512" cy="877824"/>
          </a:xfrm>
          <a:prstGeom prst="roundRect">
            <a:avLst>
              <a:gd name="adj" fmla="val 7292"/>
            </a:avLst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395728" y="3273552"/>
            <a:ext cx="162763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設計書のドラフト作成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2304288" y="4261104"/>
            <a:ext cx="1810512" cy="877824"/>
          </a:xfrm>
          <a:prstGeom prst="roundRect">
            <a:avLst>
              <a:gd name="adj" fmla="val 7292"/>
            </a:avLst>
          </a:prstGeom>
          <a:solidFill>
            <a:srgbClr val="CDEA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395728" y="4261104"/>
            <a:ext cx="162763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既存仕様の調査・整理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4224528" y="1755648"/>
            <a:ext cx="1810512" cy="420624"/>
          </a:xfrm>
          <a:prstGeom prst="roundRect">
            <a:avLst>
              <a:gd name="adj" fmla="val 13043"/>
            </a:avLst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224528" y="1755648"/>
            <a:ext cx="1810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FCDE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　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実装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6039612" y="1901952"/>
            <a:ext cx="100584" cy="128016"/>
          </a:xfrm>
          <a:prstGeom prst="rightArrow">
            <a:avLst/>
          </a:prstGeom>
          <a:solidFill>
            <a:srgbClr val="98AE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224528" y="2286000"/>
            <a:ext cx="1810512" cy="877824"/>
          </a:xfrm>
          <a:prstGeom prst="roundRect">
            <a:avLst>
              <a:gd name="adj" fmla="val 7292"/>
            </a:avLst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315968" y="2286000"/>
            <a:ext cx="162763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定型コードの生成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4224528" y="3273552"/>
            <a:ext cx="1810512" cy="877824"/>
          </a:xfrm>
          <a:prstGeom prst="roundRect">
            <a:avLst>
              <a:gd name="adj" fmla="val 7292"/>
            </a:avLst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315968" y="3273552"/>
            <a:ext cx="162763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コードレビュー補助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4224528" y="4261104"/>
            <a:ext cx="1810512" cy="877824"/>
          </a:xfrm>
          <a:prstGeom prst="roundRect">
            <a:avLst>
              <a:gd name="adj" fmla="val 7292"/>
            </a:avLst>
          </a:prstGeom>
          <a:solidFill>
            <a:srgbClr val="CDEA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315968" y="4261104"/>
            <a:ext cx="162763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複雑なロジックの作り込み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6144768" y="1755648"/>
            <a:ext cx="1810512" cy="420624"/>
          </a:xfrm>
          <a:prstGeom prst="roundRect">
            <a:avLst>
              <a:gd name="adj" fmla="val 13043"/>
            </a:avLst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144768" y="1755648"/>
            <a:ext cx="1810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FCDE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　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テスト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7959852" y="1901952"/>
            <a:ext cx="100584" cy="128016"/>
          </a:xfrm>
          <a:prstGeom prst="rightArrow">
            <a:avLst/>
          </a:prstGeom>
          <a:solidFill>
            <a:srgbClr val="98AE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144768" y="2286000"/>
            <a:ext cx="1810512" cy="877824"/>
          </a:xfrm>
          <a:prstGeom prst="roundRect">
            <a:avLst>
              <a:gd name="adj" fmla="val 7292"/>
            </a:avLst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236208" y="2286000"/>
            <a:ext cx="162763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テストケース・コード生成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6144768" y="3273552"/>
            <a:ext cx="1810512" cy="877824"/>
          </a:xfrm>
          <a:prstGeom prst="roundRect">
            <a:avLst>
              <a:gd name="adj" fmla="val 7292"/>
            </a:avLst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236208" y="3273552"/>
            <a:ext cx="162763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テスト実行・回帰テスト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6144768" y="4261104"/>
            <a:ext cx="1810512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48" name="Text 45"/>
          <p:cNvSpPr/>
          <p:nvPr/>
        </p:nvSpPr>
        <p:spPr>
          <a:xfrm>
            <a:off x="6236208" y="4261104"/>
            <a:ext cx="162763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受け入れ基準の判断</a:t>
            </a:r>
            <a:endParaRPr lang="en-US" sz="950" dirty="0"/>
          </a:p>
        </p:txBody>
      </p:sp>
      <p:sp>
        <p:nvSpPr>
          <p:cNvPr id="49" name="Shape 46"/>
          <p:cNvSpPr/>
          <p:nvPr/>
        </p:nvSpPr>
        <p:spPr>
          <a:xfrm>
            <a:off x="8065008" y="1755648"/>
            <a:ext cx="1810512" cy="420624"/>
          </a:xfrm>
          <a:prstGeom prst="roundRect">
            <a:avLst>
              <a:gd name="adj" fmla="val 13043"/>
            </a:avLst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8065008" y="1755648"/>
            <a:ext cx="1810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FCDE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　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移行・リリース</a:t>
            </a:r>
            <a:endParaRPr lang="en-US" sz="1200" dirty="0"/>
          </a:p>
        </p:txBody>
      </p:sp>
      <p:sp>
        <p:nvSpPr>
          <p:cNvPr id="51" name="Shape 48"/>
          <p:cNvSpPr/>
          <p:nvPr/>
        </p:nvSpPr>
        <p:spPr>
          <a:xfrm>
            <a:off x="9880092" y="1901952"/>
            <a:ext cx="100584" cy="128016"/>
          </a:xfrm>
          <a:prstGeom prst="rightArrow">
            <a:avLst/>
          </a:prstGeom>
          <a:solidFill>
            <a:srgbClr val="98AE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8065008" y="2286000"/>
            <a:ext cx="1810512" cy="877824"/>
          </a:xfrm>
          <a:prstGeom prst="roundRect">
            <a:avLst>
              <a:gd name="adj" fmla="val 7292"/>
            </a:avLst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8156448" y="2286000"/>
            <a:ext cx="162763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手順書・リリースノート作成</a:t>
            </a:r>
            <a:endParaRPr lang="en-US" sz="950" dirty="0"/>
          </a:p>
        </p:txBody>
      </p:sp>
      <p:sp>
        <p:nvSpPr>
          <p:cNvPr id="54" name="Shape 51"/>
          <p:cNvSpPr/>
          <p:nvPr/>
        </p:nvSpPr>
        <p:spPr>
          <a:xfrm>
            <a:off x="8065008" y="3273552"/>
            <a:ext cx="1810512" cy="877824"/>
          </a:xfrm>
          <a:prstGeom prst="roundRect">
            <a:avLst>
              <a:gd name="adj" fmla="val 7292"/>
            </a:avLst>
          </a:prstGeom>
          <a:solidFill>
            <a:srgbClr val="CDEA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8156448" y="3273552"/>
            <a:ext cx="162763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移行データの整合チェック</a:t>
            </a:r>
            <a:endParaRPr lang="en-US" sz="950" dirty="0"/>
          </a:p>
        </p:txBody>
      </p:sp>
      <p:sp>
        <p:nvSpPr>
          <p:cNvPr id="56" name="Shape 53"/>
          <p:cNvSpPr/>
          <p:nvPr/>
        </p:nvSpPr>
        <p:spPr>
          <a:xfrm>
            <a:off x="8065008" y="4261104"/>
            <a:ext cx="1810512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57" name="Text 54"/>
          <p:cNvSpPr/>
          <p:nvPr/>
        </p:nvSpPr>
        <p:spPr>
          <a:xfrm>
            <a:off x="8156448" y="4261104"/>
            <a:ext cx="162763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リリース可否の最終判断</a:t>
            </a:r>
            <a:endParaRPr lang="en-US" sz="950" dirty="0"/>
          </a:p>
        </p:txBody>
      </p:sp>
      <p:sp>
        <p:nvSpPr>
          <p:cNvPr id="58" name="Shape 55"/>
          <p:cNvSpPr/>
          <p:nvPr/>
        </p:nvSpPr>
        <p:spPr>
          <a:xfrm>
            <a:off x="9985248" y="1755648"/>
            <a:ext cx="1810512" cy="420624"/>
          </a:xfrm>
          <a:prstGeom prst="roundRect">
            <a:avLst>
              <a:gd name="adj" fmla="val 13043"/>
            </a:avLst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9985248" y="1755648"/>
            <a:ext cx="18105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FCDE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　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保守・運用</a:t>
            </a:r>
            <a:endParaRPr lang="en-US" sz="1200" dirty="0"/>
          </a:p>
        </p:txBody>
      </p:sp>
      <p:sp>
        <p:nvSpPr>
          <p:cNvPr id="60" name="Shape 57"/>
          <p:cNvSpPr/>
          <p:nvPr/>
        </p:nvSpPr>
        <p:spPr>
          <a:xfrm>
            <a:off x="9985248" y="2286000"/>
            <a:ext cx="1810512" cy="877824"/>
          </a:xfrm>
          <a:prstGeom prst="roundRect">
            <a:avLst>
              <a:gd name="adj" fmla="val 7292"/>
            </a:avLst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10076688" y="2286000"/>
            <a:ext cx="162763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問い合わせの一次受け・回答</a:t>
            </a:r>
            <a:endParaRPr lang="en-US" sz="950" dirty="0"/>
          </a:p>
        </p:txBody>
      </p:sp>
      <p:sp>
        <p:nvSpPr>
          <p:cNvPr id="62" name="Shape 59"/>
          <p:cNvSpPr/>
          <p:nvPr/>
        </p:nvSpPr>
        <p:spPr>
          <a:xfrm>
            <a:off x="9985248" y="3273552"/>
            <a:ext cx="1810512" cy="877824"/>
          </a:xfrm>
          <a:prstGeom prst="roundRect">
            <a:avLst>
              <a:gd name="adj" fmla="val 7292"/>
            </a:avLst>
          </a:prstGeom>
          <a:solidFill>
            <a:srgbClr val="CDEA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10076688" y="3273552"/>
            <a:ext cx="162763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障害の一次切り分け・ログ解析</a:t>
            </a:r>
            <a:endParaRPr lang="en-US" sz="950" dirty="0"/>
          </a:p>
        </p:txBody>
      </p:sp>
      <p:sp>
        <p:nvSpPr>
          <p:cNvPr id="64" name="Shape 61"/>
          <p:cNvSpPr/>
          <p:nvPr/>
        </p:nvSpPr>
        <p:spPr>
          <a:xfrm>
            <a:off x="9985248" y="4261104"/>
            <a:ext cx="1810512" cy="877824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65" name="Text 62"/>
          <p:cNvSpPr/>
          <p:nvPr/>
        </p:nvSpPr>
        <p:spPr>
          <a:xfrm>
            <a:off x="10076688" y="4261104"/>
            <a:ext cx="162763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9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重大障害の最終対応・判断</a:t>
            </a:r>
            <a:endParaRPr lang="en-US" sz="950" dirty="0"/>
          </a:p>
        </p:txBody>
      </p:sp>
      <p:sp>
        <p:nvSpPr>
          <p:cNvPr id="66" name="Shape 63"/>
          <p:cNvSpPr/>
          <p:nvPr/>
        </p:nvSpPr>
        <p:spPr>
          <a:xfrm>
            <a:off x="384048" y="5321808"/>
            <a:ext cx="11411712" cy="713232"/>
          </a:xfrm>
          <a:prstGeom prst="roundRect">
            <a:avLst>
              <a:gd name="adj" fmla="val 11538"/>
            </a:avLst>
          </a:prstGeom>
          <a:solidFill>
            <a:srgbClr val="EA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640080" y="5321808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ポイント：</a:t>
            </a:r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「判断」と「現場との対話」は人が担い、「整理・生成・定型処理」はAIへ。　</a:t>
            </a:r>
            <a:pPr indent="0" marL="0">
              <a:buNone/>
            </a:pPr>
            <a:r>
              <a:rPr lang="en-US" sz="12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例）要件は人がヒアリングし、その整理・文書化はAIが担当。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475488" cy="475488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41148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219456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まずは「始めやすい領域」から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1188720" y="82296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効果が見えやすく、限定スコープで試せる工程からAI活用を開始します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201400" y="2743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41248" y="1737360"/>
            <a:ext cx="603504" cy="603504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189280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00200" y="1700784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運用保守の一次受け</a:t>
            </a:r>
            <a:endParaRPr lang="en-US" sz="165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（Jira問い合わせ）</a:t>
            </a:r>
            <a:endParaRPr lang="en-US" sz="1650" dirty="0"/>
          </a:p>
        </p:txBody>
      </p:sp>
      <p:sp>
        <p:nvSpPr>
          <p:cNvPr id="11" name="Shape 7"/>
          <p:cNvSpPr/>
          <p:nvPr/>
        </p:nvSpPr>
        <p:spPr>
          <a:xfrm>
            <a:off x="4526280" y="1773936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526280" y="1773936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RECOMMENDED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914400" y="2542032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FCBE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対象工程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914400" y="2770632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ユーザーからの問い合わせ一次対応（社内業務アプリ）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914400" y="3282696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FCBE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AIが担うこと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914400" y="3511296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チケットの自動分類・優先度付け、過去事例を参照した一次回答ドラフト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914400" y="402336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FCBE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始めやすい理由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914400" y="425196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既に運用中で、過去チケットをそのまま学習データに活用できる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914400" y="4764024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FCBE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期待効果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914400" y="4992624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一次対応工数の削減、対応品質の均一化、属人化の解消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6217920" y="1463040"/>
            <a:ext cx="539496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510528" y="1737360"/>
            <a:ext cx="603504" cy="603504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1404" y="1888236"/>
            <a:ext cx="301752" cy="30175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269480" y="1737360"/>
            <a:ext cx="4114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開発・テストの一部</a:t>
            </a:r>
            <a:endParaRPr lang="en-US" sz="1650" dirty="0"/>
          </a:p>
        </p:txBody>
      </p:sp>
      <p:sp>
        <p:nvSpPr>
          <p:cNvPr id="25" name="Text 20"/>
          <p:cNvSpPr/>
          <p:nvPr/>
        </p:nvSpPr>
        <p:spPr>
          <a:xfrm>
            <a:off x="6583680" y="2542032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対象工程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6583680" y="2770632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定型的な実装とテスト（既存の開発フロー内）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6583680" y="3282696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AIが担うこと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6583680" y="3511296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テストコード・テストケース生成、コードレビュー補助、定型実装</a:t>
            </a:r>
            <a:endParaRPr lang="en-US" sz="1150" dirty="0"/>
          </a:p>
        </p:txBody>
      </p:sp>
      <p:sp>
        <p:nvSpPr>
          <p:cNvPr id="29" name="Text 24"/>
          <p:cNvSpPr/>
          <p:nvPr/>
        </p:nvSpPr>
        <p:spPr>
          <a:xfrm>
            <a:off x="6583680" y="402336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始めやすい理由</a:t>
            </a:r>
            <a:endParaRPr lang="en-US" sz="1050" dirty="0"/>
          </a:p>
        </p:txBody>
      </p:sp>
      <p:sp>
        <p:nvSpPr>
          <p:cNvPr id="30" name="Text 25"/>
          <p:cNvSpPr/>
          <p:nvPr/>
        </p:nvSpPr>
        <p:spPr>
          <a:xfrm>
            <a:off x="6583680" y="425196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範囲を限定でき、今の開発プロセスに追加するだけで試せる</a:t>
            </a:r>
            <a:endParaRPr lang="en-US" sz="1150" dirty="0"/>
          </a:p>
        </p:txBody>
      </p:sp>
      <p:sp>
        <p:nvSpPr>
          <p:cNvPr id="31" name="Text 26"/>
          <p:cNvSpPr/>
          <p:nvPr/>
        </p:nvSpPr>
        <p:spPr>
          <a:xfrm>
            <a:off x="6583680" y="4764024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期待効果</a:t>
            </a:r>
            <a:endParaRPr lang="en-US" sz="1050" dirty="0"/>
          </a:p>
        </p:txBody>
      </p:sp>
      <p:sp>
        <p:nvSpPr>
          <p:cNvPr id="32" name="Text 27"/>
          <p:cNvSpPr/>
          <p:nvPr/>
        </p:nvSpPr>
        <p:spPr>
          <a:xfrm>
            <a:off x="6583680" y="4992624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開発・テスト工数の削減、レビュー品質の底上げ</a:t>
            </a:r>
            <a:endParaRPr lang="en-US" sz="1150" dirty="0"/>
          </a:p>
        </p:txBody>
      </p:sp>
      <p:sp>
        <p:nvSpPr>
          <p:cNvPr id="33" name="Text 28"/>
          <p:cNvSpPr/>
          <p:nvPr/>
        </p:nvSpPr>
        <p:spPr>
          <a:xfrm>
            <a:off x="548640" y="568756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 まず①で効果を確認し、②へ広げていくのがおすすめです。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475488" cy="475488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41148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219456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内製化のゴールと、そこへ至るロードマップ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1188720" y="82296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「お客様が自前で巻き取る範囲」をゴールに定め、段階的に到達します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201400" y="2743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335024"/>
            <a:ext cx="11064240" cy="841248"/>
          </a:xfrm>
          <a:prstGeom prst="roundRect">
            <a:avLst>
              <a:gd name="adj" fmla="val 9783"/>
            </a:avLst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68680" y="1517904"/>
            <a:ext cx="475488" cy="475488"/>
          </a:xfrm>
          <a:prstGeom prst="ellipse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1636776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1335024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BFE2F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ゴール（内製化の到達点）：</a:t>
            </a:r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運用保守の一次対応と定型的な開発・テストを、お客様の内製チームで完結できる状態へ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548640" y="2395728"/>
            <a:ext cx="2542032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731520" y="257860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CDEA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31520" y="257860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1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1828800" y="2560320"/>
            <a:ext cx="1124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小さく始める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749808" y="2999232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対象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749808" y="3191256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運用保守の一次受け（Jira）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749808" y="3547872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内製でできる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749808" y="3739896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一次回答の運用・改善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749808" y="4096512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SI関与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749808" y="4288536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初期構築・型提供（大）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3108960" y="3429000"/>
            <a:ext cx="256032" cy="219456"/>
          </a:xfrm>
          <a:prstGeom prst="rightArrow">
            <a:avLst/>
          </a:prstGeom>
          <a:solidFill>
            <a:srgbClr val="98AE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3383280" y="2395728"/>
            <a:ext cx="2542032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3566160" y="257860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CDEA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566160" y="257860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2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4663440" y="2560320"/>
            <a:ext cx="1124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広げる</a:t>
            </a:r>
            <a:endParaRPr lang="en-US" sz="1350" dirty="0"/>
          </a:p>
        </p:txBody>
      </p:sp>
      <p:sp>
        <p:nvSpPr>
          <p:cNvPr id="26" name="Text 22"/>
          <p:cNvSpPr/>
          <p:nvPr/>
        </p:nvSpPr>
        <p:spPr>
          <a:xfrm>
            <a:off x="3584448" y="2999232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対象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3584448" y="3191256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開発・テストの一部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3584448" y="3547872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内製でできる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3584448" y="3739896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定型開発・テストをAIで内製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3584448" y="4096512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SI関与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3584448" y="4288536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拡張支援・伴走（中）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5943600" y="3429000"/>
            <a:ext cx="256032" cy="219456"/>
          </a:xfrm>
          <a:prstGeom prst="rightArrow">
            <a:avLst/>
          </a:prstGeom>
          <a:solidFill>
            <a:srgbClr val="98AE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6217920" y="2395728"/>
            <a:ext cx="2542032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6400800" y="257860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CDEA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400800" y="257860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3</a:t>
            </a:r>
            <a:endParaRPr lang="en-US" sz="950" dirty="0"/>
          </a:p>
        </p:txBody>
      </p:sp>
      <p:sp>
        <p:nvSpPr>
          <p:cNvPr id="36" name="Text 32"/>
          <p:cNvSpPr/>
          <p:nvPr/>
        </p:nvSpPr>
        <p:spPr>
          <a:xfrm>
            <a:off x="7498080" y="2560320"/>
            <a:ext cx="1124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定着させる</a:t>
            </a:r>
            <a:endParaRPr lang="en-US" sz="1350" dirty="0"/>
          </a:p>
        </p:txBody>
      </p:sp>
      <p:sp>
        <p:nvSpPr>
          <p:cNvPr id="37" name="Text 33"/>
          <p:cNvSpPr/>
          <p:nvPr/>
        </p:nvSpPr>
        <p:spPr>
          <a:xfrm>
            <a:off x="6419088" y="2999232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対象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6419088" y="3191256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適用範囲を複数チームへ拡大</a:t>
            </a:r>
            <a:endParaRPr lang="en-US" sz="1050" dirty="0"/>
          </a:p>
        </p:txBody>
      </p:sp>
      <p:sp>
        <p:nvSpPr>
          <p:cNvPr id="39" name="Text 35"/>
          <p:cNvSpPr/>
          <p:nvPr/>
        </p:nvSpPr>
        <p:spPr>
          <a:xfrm>
            <a:off x="6419088" y="3547872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内製でできる</a:t>
            </a:r>
            <a:endParaRPr lang="en-US" sz="900" dirty="0"/>
          </a:p>
        </p:txBody>
      </p:sp>
      <p:sp>
        <p:nvSpPr>
          <p:cNvPr id="40" name="Text 36"/>
          <p:cNvSpPr/>
          <p:nvPr/>
        </p:nvSpPr>
        <p:spPr>
          <a:xfrm>
            <a:off x="6419088" y="3739896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AI活用が定着し標準化</a:t>
            </a:r>
            <a:endParaRPr lang="en-US" sz="1050" dirty="0"/>
          </a:p>
        </p:txBody>
      </p:sp>
      <p:sp>
        <p:nvSpPr>
          <p:cNvPr id="41" name="Text 37"/>
          <p:cNvSpPr/>
          <p:nvPr/>
        </p:nvSpPr>
        <p:spPr>
          <a:xfrm>
            <a:off x="6419088" y="4096512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SI関与</a:t>
            </a:r>
            <a:endParaRPr lang="en-US" sz="900" dirty="0"/>
          </a:p>
        </p:txBody>
      </p:sp>
      <p:sp>
        <p:nvSpPr>
          <p:cNvPr id="42" name="Text 38"/>
          <p:cNvSpPr/>
          <p:nvPr/>
        </p:nvSpPr>
        <p:spPr>
          <a:xfrm>
            <a:off x="6419088" y="4288536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必要時のみスポット（小）</a:t>
            </a:r>
            <a:endParaRPr lang="en-US" sz="1050" dirty="0"/>
          </a:p>
        </p:txBody>
      </p:sp>
      <p:sp>
        <p:nvSpPr>
          <p:cNvPr id="43" name="Shape 39"/>
          <p:cNvSpPr/>
          <p:nvPr/>
        </p:nvSpPr>
        <p:spPr>
          <a:xfrm>
            <a:off x="8778240" y="3429000"/>
            <a:ext cx="256032" cy="219456"/>
          </a:xfrm>
          <a:prstGeom prst="rightArrow">
            <a:avLst/>
          </a:prstGeom>
          <a:solidFill>
            <a:srgbClr val="98AE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9052560" y="2395728"/>
            <a:ext cx="2542032" cy="2286000"/>
          </a:xfrm>
          <a:prstGeom prst="roundRect">
            <a:avLst>
              <a:gd name="adj" fmla="val 4000"/>
            </a:avLst>
          </a:prstGeom>
          <a:solidFill>
            <a:srgbClr val="2E9E7B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8000"/>
              </a:srgbClr>
            </a:outerShdw>
          </a:effectLst>
        </p:spPr>
      </p:sp>
      <p:sp>
        <p:nvSpPr>
          <p:cNvPr id="45" name="Shape 41"/>
          <p:cNvSpPr/>
          <p:nvPr/>
        </p:nvSpPr>
        <p:spPr>
          <a:xfrm>
            <a:off x="10021824" y="2633472"/>
            <a:ext cx="603504" cy="603504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7272" y="2788920"/>
            <a:ext cx="292608" cy="292608"/>
          </a:xfrm>
          <a:prstGeom prst="rect">
            <a:avLst/>
          </a:prstGeom>
        </p:spPr>
      </p:pic>
      <p:sp>
        <p:nvSpPr>
          <p:cNvPr id="47" name="Text 42"/>
          <p:cNvSpPr/>
          <p:nvPr/>
        </p:nvSpPr>
        <p:spPr>
          <a:xfrm>
            <a:off x="9052560" y="3310128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</a:t>
            </a:r>
            <a:endParaRPr lang="en-US" sz="1800" dirty="0"/>
          </a:p>
        </p:txBody>
      </p:sp>
      <p:sp>
        <p:nvSpPr>
          <p:cNvPr id="48" name="Text 43"/>
          <p:cNvSpPr/>
          <p:nvPr/>
        </p:nvSpPr>
        <p:spPr>
          <a:xfrm>
            <a:off x="9253728" y="3694176"/>
            <a:ext cx="2139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内製で「一次対応＋定型開発・テスト」を完結</a:t>
            </a:r>
            <a:endParaRPr lang="en-US" sz="1050" dirty="0"/>
          </a:p>
          <a:p>
            <a:pPr algn="ctr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SIは高度・例外領域に集中</a:t>
            </a:r>
            <a:endParaRPr lang="en-US" sz="1050" dirty="0"/>
          </a:p>
        </p:txBody>
      </p:sp>
      <p:sp>
        <p:nvSpPr>
          <p:cNvPr id="49" name="Text 44"/>
          <p:cNvSpPr/>
          <p:nvPr/>
        </p:nvSpPr>
        <p:spPr>
          <a:xfrm>
            <a:off x="548640" y="4864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内製でカバーできる範囲</a:t>
            </a:r>
            <a:endParaRPr lang="en-US" sz="1050" dirty="0"/>
          </a:p>
        </p:txBody>
      </p:sp>
      <p:sp>
        <p:nvSpPr>
          <p:cNvPr id="50" name="Shape 45"/>
          <p:cNvSpPr/>
          <p:nvPr/>
        </p:nvSpPr>
        <p:spPr>
          <a:xfrm>
            <a:off x="548640" y="5175504"/>
            <a:ext cx="2542032" cy="182880"/>
          </a:xfrm>
          <a:prstGeom prst="roundRect">
            <a:avLst>
              <a:gd name="adj" fmla="val 50000"/>
            </a:avLst>
          </a:prstGeom>
          <a:solidFill>
            <a:srgbClr val="E3E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548640" y="5175504"/>
            <a:ext cx="635508" cy="182880"/>
          </a:xfrm>
          <a:prstGeom prst="roundRect">
            <a:avLst>
              <a:gd name="adj" fmla="val 50000"/>
            </a:avLst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Shape 47"/>
          <p:cNvSpPr/>
          <p:nvPr/>
        </p:nvSpPr>
        <p:spPr>
          <a:xfrm>
            <a:off x="3383280" y="5175504"/>
            <a:ext cx="2542032" cy="182880"/>
          </a:xfrm>
          <a:prstGeom prst="roundRect">
            <a:avLst>
              <a:gd name="adj" fmla="val 50000"/>
            </a:avLst>
          </a:prstGeom>
          <a:solidFill>
            <a:srgbClr val="E3E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Shape 48"/>
          <p:cNvSpPr/>
          <p:nvPr/>
        </p:nvSpPr>
        <p:spPr>
          <a:xfrm>
            <a:off x="3383280" y="5175504"/>
            <a:ext cx="1398118" cy="182880"/>
          </a:xfrm>
          <a:prstGeom prst="roundRect">
            <a:avLst>
              <a:gd name="adj" fmla="val 50000"/>
            </a:avLst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Shape 49"/>
          <p:cNvSpPr/>
          <p:nvPr/>
        </p:nvSpPr>
        <p:spPr>
          <a:xfrm>
            <a:off x="6217920" y="5175504"/>
            <a:ext cx="2542032" cy="182880"/>
          </a:xfrm>
          <a:prstGeom prst="roundRect">
            <a:avLst>
              <a:gd name="adj" fmla="val 50000"/>
            </a:avLst>
          </a:prstGeom>
          <a:solidFill>
            <a:srgbClr val="E3E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Shape 50"/>
          <p:cNvSpPr/>
          <p:nvPr/>
        </p:nvSpPr>
        <p:spPr>
          <a:xfrm>
            <a:off x="6217920" y="5175504"/>
            <a:ext cx="2033626" cy="182880"/>
          </a:xfrm>
          <a:prstGeom prst="roundRect">
            <a:avLst>
              <a:gd name="adj" fmla="val 50000"/>
            </a:avLst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9052560" y="5175504"/>
            <a:ext cx="2542032" cy="182880"/>
          </a:xfrm>
          <a:prstGeom prst="roundRect">
            <a:avLst>
              <a:gd name="adj" fmla="val 50000"/>
            </a:avLst>
          </a:prstGeom>
          <a:solidFill>
            <a:srgbClr val="E3ED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9052560" y="5175504"/>
            <a:ext cx="2542032" cy="182880"/>
          </a:xfrm>
          <a:prstGeom prst="roundRect">
            <a:avLst>
              <a:gd name="adj" fmla="val 50000"/>
            </a:avLst>
          </a:prstGeom>
          <a:solidFill>
            <a:srgbClr val="2E9E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Text 53"/>
          <p:cNvSpPr/>
          <p:nvPr/>
        </p:nvSpPr>
        <p:spPr>
          <a:xfrm>
            <a:off x="548640" y="541324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小</a:t>
            </a:r>
            <a:endParaRPr lang="en-US" sz="900" dirty="0"/>
          </a:p>
        </p:txBody>
      </p:sp>
      <p:sp>
        <p:nvSpPr>
          <p:cNvPr id="59" name="Text 54"/>
          <p:cNvSpPr/>
          <p:nvPr/>
        </p:nvSpPr>
        <p:spPr>
          <a:xfrm>
            <a:off x="10680192" y="541324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大（自走）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475488" cy="475488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41148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219456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ご懸念への回答：ナレッジベースは「ゼロから」作りません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1188720" y="82296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既存資産を活かし、小さく始め、型を使うことで、構築にかかるSI費用を抑えます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201400" y="2743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261872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CF1E3"/>
          </a:solidFill>
          <a:ln w="12700">
            <a:solidFill>
              <a:srgbClr val="EBC79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1399032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BC79A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1517904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261872"/>
            <a:ext cx="10058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0913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ご懸念　</a:t>
            </a:r>
            <a:pPr indent="0" marL="0">
              <a:buNone/>
            </a:pPr>
            <a:r>
              <a:rPr lang="en-US" sz="1450" b="1" dirty="0">
                <a:solidFill>
                  <a:srgbClr val="8A5A1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「ナレッジベースをゼロから構築すると、SI費用がかさむのでは？」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502920" y="2359152"/>
            <a:ext cx="2651760" cy="274320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1481328" y="2615184"/>
            <a:ext cx="694944" cy="694944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5064" y="2788920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0080" y="343814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1. 既存資産を活用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740664" y="3858768"/>
            <a:ext cx="21762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Jiraの過去チケット・既存マニュアル・設計書をAIが読み込みナレッジ化。ゼロからの棚卸しを大幅削減。</a:t>
            </a:r>
            <a:endParaRPr lang="en-US" sz="1080" dirty="0"/>
          </a:p>
        </p:txBody>
      </p:sp>
      <p:sp>
        <p:nvSpPr>
          <p:cNvPr id="16" name="Shape 11"/>
          <p:cNvSpPr/>
          <p:nvPr/>
        </p:nvSpPr>
        <p:spPr>
          <a:xfrm>
            <a:off x="3383280" y="2359152"/>
            <a:ext cx="2651760" cy="274320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4361688" y="2615184"/>
            <a:ext cx="694944" cy="694944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5424" y="2788920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520440" y="343814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2. 小さく始める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3621024" y="3858768"/>
            <a:ext cx="21762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問い合わせの多い領域から構築し、精度を確認しながら拡大。最初から全社網羅は目指しません。</a:t>
            </a:r>
            <a:endParaRPr lang="en-US" sz="1080" dirty="0"/>
          </a:p>
        </p:txBody>
      </p:sp>
      <p:sp>
        <p:nvSpPr>
          <p:cNvPr id="21" name="Shape 15"/>
          <p:cNvSpPr/>
          <p:nvPr/>
        </p:nvSpPr>
        <p:spPr>
          <a:xfrm>
            <a:off x="6263640" y="2359152"/>
            <a:ext cx="2651760" cy="274320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7242048" y="2615184"/>
            <a:ext cx="694944" cy="694944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5784" y="2788920"/>
            <a:ext cx="347472" cy="34747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400800" y="343814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3. 型を活用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6501384" y="3858768"/>
            <a:ext cx="21762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取り込み・分類・回答生成の構築テンプレートを流用し、設計・実装のSI工数を圧縮します。</a:t>
            </a:r>
            <a:endParaRPr lang="en-US" sz="1080" dirty="0"/>
          </a:p>
        </p:txBody>
      </p:sp>
      <p:sp>
        <p:nvSpPr>
          <p:cNvPr id="26" name="Shape 19"/>
          <p:cNvSpPr/>
          <p:nvPr/>
        </p:nvSpPr>
        <p:spPr>
          <a:xfrm>
            <a:off x="9144000" y="2359152"/>
            <a:ext cx="2651760" cy="274320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10122408" y="2615184"/>
            <a:ext cx="694944" cy="694944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96144" y="2788920"/>
            <a:ext cx="347472" cy="34747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9281160" y="343814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4. 内製で拡張</a:t>
            </a:r>
            <a:endParaRPr lang="en-US" sz="1400" dirty="0"/>
          </a:p>
        </p:txBody>
      </p:sp>
      <p:sp>
        <p:nvSpPr>
          <p:cNvPr id="30" name="Text 22"/>
          <p:cNvSpPr/>
          <p:nvPr/>
        </p:nvSpPr>
        <p:spPr>
          <a:xfrm>
            <a:off x="9381744" y="3858768"/>
            <a:ext cx="21762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運用しながらお客様自身でナレッジを追加・改善。属人化せず継続SI費を抑制します。</a:t>
            </a:r>
            <a:endParaRPr lang="en-US" sz="1080" dirty="0"/>
          </a:p>
        </p:txBody>
      </p:sp>
      <p:sp>
        <p:nvSpPr>
          <p:cNvPr id="31" name="Shape 23"/>
          <p:cNvSpPr/>
          <p:nvPr/>
        </p:nvSpPr>
        <p:spPr>
          <a:xfrm>
            <a:off x="548640" y="5285232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32" name="Text 24"/>
          <p:cNvSpPr/>
          <p:nvPr/>
        </p:nvSpPr>
        <p:spPr>
          <a:xfrm>
            <a:off x="822960" y="5285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「一括構築」ではなく「既存活用＋段階構築」で、初期費用とリスクを最小化します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475488" cy="475488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41148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219456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コストと内製化の見通し（イメージ）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1188720" y="82296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大きな初期投資を避け、効果を確認しながら段階的に。外部依存（SI費）は徐々に逓減します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201400" y="2743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508760" y="2240280"/>
            <a:ext cx="0" cy="2697480"/>
          </a:xfrm>
          <a:prstGeom prst="line">
            <a:avLst/>
          </a:prstGeom>
          <a:noFill/>
          <a:ln w="15875">
            <a:solidFill>
              <a:srgbClr val="D8DEE9"/>
            </a:solidFill>
            <a:prstDash val="solid"/>
            <a:tailEnd type="triangle"/>
          </a:ln>
        </p:spPr>
      </p:sp>
      <p:sp>
        <p:nvSpPr>
          <p:cNvPr id="8" name="Text 5"/>
          <p:cNvSpPr/>
          <p:nvPr/>
        </p:nvSpPr>
        <p:spPr>
          <a:xfrm>
            <a:off x="1170432" y="2121408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大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70432" y="4736592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小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508760" y="4937760"/>
            <a:ext cx="5806440" cy="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121408" y="2697480"/>
            <a:ext cx="548640" cy="2240280"/>
          </a:xfrm>
          <a:prstGeom prst="rect">
            <a:avLst/>
          </a:prstGeom>
          <a:solidFill>
            <a:srgbClr val="98AE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816352" y="4114800"/>
            <a:ext cx="548640" cy="822960"/>
          </a:xfrm>
          <a:prstGeom prst="rect">
            <a:avLst/>
          </a:prstGeom>
          <a:solidFill>
            <a:srgbClr val="2E9E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28800" y="50109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1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950208" y="3520440"/>
            <a:ext cx="548640" cy="1417320"/>
          </a:xfrm>
          <a:prstGeom prst="rect">
            <a:avLst/>
          </a:prstGeom>
          <a:solidFill>
            <a:srgbClr val="98AE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645152" y="3291840"/>
            <a:ext cx="548640" cy="1645920"/>
          </a:xfrm>
          <a:prstGeom prst="rect">
            <a:avLst/>
          </a:prstGeom>
          <a:solidFill>
            <a:srgbClr val="2E9E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57600" y="50109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2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779008" y="4251960"/>
            <a:ext cx="548640" cy="685800"/>
          </a:xfrm>
          <a:prstGeom prst="rect">
            <a:avLst/>
          </a:prstGeom>
          <a:solidFill>
            <a:srgbClr val="98AE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73952" y="2514600"/>
            <a:ext cx="548640" cy="2423160"/>
          </a:xfrm>
          <a:prstGeom prst="rect">
            <a:avLst/>
          </a:prstGeom>
          <a:solidFill>
            <a:srgbClr val="2E9E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6400" y="50109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3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1828800" y="1371600"/>
            <a:ext cx="237744" cy="237744"/>
          </a:xfrm>
          <a:prstGeom prst="rect">
            <a:avLst/>
          </a:prstGeom>
          <a:solidFill>
            <a:srgbClr val="98AE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130552" y="133502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弊社(SI)の関与・費用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526280" y="1371600"/>
            <a:ext cx="237744" cy="237744"/>
          </a:xfrm>
          <a:prstGeom prst="rect">
            <a:avLst/>
          </a:prstGeom>
          <a:solidFill>
            <a:srgbClr val="2E9E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28032" y="133502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内製でカバーできる範囲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508760" y="5321808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概念イメージです（実際の費用・比率は対象範囲により異なります）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7818120" y="1371600"/>
            <a:ext cx="3794760" cy="35661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8092440" y="160020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コスト構造の変化</a:t>
            </a:r>
            <a:endParaRPr lang="en-US" sz="1450" dirty="0"/>
          </a:p>
        </p:txBody>
      </p:sp>
      <p:sp>
        <p:nvSpPr>
          <p:cNvPr id="27" name="Shape 24"/>
          <p:cNvSpPr/>
          <p:nvPr/>
        </p:nvSpPr>
        <p:spPr>
          <a:xfrm>
            <a:off x="8092440" y="2084832"/>
            <a:ext cx="3246120" cy="0"/>
          </a:xfrm>
          <a:prstGeom prst="line">
            <a:avLst/>
          </a:prstGeom>
          <a:noFill/>
          <a:ln w="9525">
            <a:solidFill>
              <a:srgbClr val="D8DEE9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110728" y="2340864"/>
            <a:ext cx="109728" cy="109728"/>
          </a:xfrm>
          <a:prstGeom prst="ellipse">
            <a:avLst/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330184" y="2249424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初期：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型（テンプレート）活用で立ち上げ費用を圧縮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8110728" y="3209544"/>
            <a:ext cx="109728" cy="109728"/>
          </a:xfrm>
          <a:prstGeom prst="ellipse">
            <a:avLst/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330184" y="3118104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中期：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内製化が進み、外部委託費が逓減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8110728" y="4078224"/>
            <a:ext cx="109728" cy="109728"/>
          </a:xfrm>
          <a:prstGeom prst="ellipse">
            <a:avLst/>
          </a:prstGeom>
          <a:solidFill>
            <a:srgbClr val="0094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330184" y="3986784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継続：</a:t>
            </a:r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SIは高度・例外領域のみ。固定的なSI費を変動費化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548640" y="5989320"/>
            <a:ext cx="11064240" cy="640080"/>
          </a:xfrm>
          <a:prstGeom prst="roundRect">
            <a:avLst>
              <a:gd name="adj" fmla="val 12857"/>
            </a:avLst>
          </a:prstGeom>
          <a:solidFill>
            <a:srgbClr val="EAF6F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22960" y="59893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投資は段階的、効果は早期から。</a:t>
            </a:r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コスト削減という経営課題と両立しながら、内製化を進められます。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92608"/>
            <a:ext cx="475488" cy="475488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41148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219456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次の一歩：スモールスタートのご提案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1188720" y="82296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まずは効果の見えやすい「運用保守の一次受け（Jira）」から、限定スコープで始めませんか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201400" y="2743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31520" y="1517904"/>
            <a:ext cx="3291840" cy="1097280"/>
          </a:xfrm>
          <a:prstGeom prst="roundRect">
            <a:avLst>
              <a:gd name="adj" fmla="val 8333"/>
            </a:avLst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87552" y="1837944"/>
            <a:ext cx="457200" cy="457200"/>
          </a:xfrm>
          <a:prstGeom prst="ellipse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87552" y="1837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6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572768" y="168249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対象業務の選定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572768" y="204825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EEF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AIに任せる業務を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CEEF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一緒に洗い出し・優先度付け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078224" y="1965960"/>
            <a:ext cx="347472" cy="201168"/>
          </a:xfrm>
          <a:prstGeom prst="rightArrow">
            <a:avLst/>
          </a:prstGeom>
          <a:solidFill>
            <a:srgbClr val="98AE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80560" y="1517904"/>
            <a:ext cx="32918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36592" y="1837944"/>
            <a:ext cx="457200" cy="457200"/>
          </a:xfrm>
          <a:prstGeom prst="ellipse">
            <a:avLst/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36592" y="1837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321808" y="168249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PoC（限定検証）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321808" y="204825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一次受け(Jira)などで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小さく効果を検証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827264" y="1965960"/>
            <a:ext cx="347472" cy="201168"/>
          </a:xfrm>
          <a:prstGeom prst="rightArrow">
            <a:avLst/>
          </a:prstGeom>
          <a:solidFill>
            <a:srgbClr val="98AE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229600" y="1517904"/>
            <a:ext cx="32918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485632" y="1837944"/>
            <a:ext cx="457200" cy="457200"/>
          </a:xfrm>
          <a:prstGeom prst="ellipse">
            <a:avLst/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485632" y="1837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9070848" y="168249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効果評価・拡大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9070848" y="204825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効果を測定し、次の</a:t>
            </a:r>
            <a:endParaRPr lang="en-US" sz="10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647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適用範囲と内製化計画を策定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48640" y="292608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8DE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22960" y="3182112"/>
            <a:ext cx="493776" cy="493776"/>
          </a:xfrm>
          <a:prstGeom prst="ellipse">
            <a:avLst/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" y="3305556"/>
            <a:ext cx="246888" cy="24688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1444752" y="32004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弊社の役割（伴走支援）</a:t>
            </a:r>
            <a:endParaRPr lang="en-US" sz="1500" dirty="0"/>
          </a:p>
        </p:txBody>
      </p:sp>
      <p:sp>
        <p:nvSpPr>
          <p:cNvPr id="28" name="Text 24"/>
          <p:cNvSpPr/>
          <p:nvPr/>
        </p:nvSpPr>
        <p:spPr>
          <a:xfrm>
            <a:off x="1005840" y="374904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初期セットアップと型（テンプレート）の提供</a:t>
            </a:r>
            <a:endParaRPr lang="en-US" sz="12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ナレッジ整備とAI活用の定着を支援</a:t>
            </a:r>
            <a:endParaRPr lang="en-US" sz="1200" dirty="0"/>
          </a:p>
          <a:p>
            <a:pPr marL="177800" indent="-1778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内製化に向けた運用ルール・体制づくり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6217920" y="292608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EAF6FC"/>
          </a:solidFill>
          <a:ln w="12700">
            <a:solidFill>
              <a:srgbClr val="CDEAF8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6492240" y="3182112"/>
            <a:ext cx="493776" cy="4937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DEAF8"/>
            </a:solidFill>
            <a:prstDash val="solid"/>
          </a:ln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684" y="3305556"/>
            <a:ext cx="246888" cy="246888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7114032" y="32004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8B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PoCの想定（例）</a:t>
            </a:r>
            <a:endParaRPr lang="en-US" sz="1500" dirty="0"/>
          </a:p>
        </p:txBody>
      </p:sp>
      <p:sp>
        <p:nvSpPr>
          <p:cNvPr id="33" name="Text 28"/>
          <p:cNvSpPr/>
          <p:nvPr/>
        </p:nvSpPr>
        <p:spPr>
          <a:xfrm>
            <a:off x="6675120" y="37490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スコープ：</a:t>
            </a:r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運用保守の一次受け（Jira）を1領域</a:t>
            </a:r>
            <a:endParaRPr lang="en-US" sz="1150" dirty="0"/>
          </a:p>
        </p:txBody>
      </p:sp>
      <p:sp>
        <p:nvSpPr>
          <p:cNvPr id="34" name="Text 29"/>
          <p:cNvSpPr/>
          <p:nvPr/>
        </p:nvSpPr>
        <p:spPr>
          <a:xfrm>
            <a:off x="6675120" y="405993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期間：</a:t>
            </a:r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数週間〜（スコープに応じて）</a:t>
            </a:r>
            <a:endParaRPr lang="en-US" sz="1150" dirty="0"/>
          </a:p>
        </p:txBody>
      </p:sp>
      <p:sp>
        <p:nvSpPr>
          <p:cNvPr id="35" name="Text 30"/>
          <p:cNvSpPr/>
          <p:nvPr/>
        </p:nvSpPr>
        <p:spPr>
          <a:xfrm>
            <a:off x="6675120" y="43708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94D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評価指標：</a:t>
            </a:r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一次回答の自動化率／一次対応時間の削減率</a:t>
            </a:r>
            <a:endParaRPr lang="en-US" sz="1150" dirty="0"/>
          </a:p>
        </p:txBody>
      </p:sp>
      <p:sp>
        <p:nvSpPr>
          <p:cNvPr id="36" name="Shape 31"/>
          <p:cNvSpPr/>
          <p:nvPr/>
        </p:nvSpPr>
        <p:spPr>
          <a:xfrm>
            <a:off x="548640" y="493776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0068B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37" name="Text 32"/>
          <p:cNvSpPr/>
          <p:nvPr/>
        </p:nvSpPr>
        <p:spPr>
          <a:xfrm>
            <a:off x="822960" y="5074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まずは対象業務の洗い出しから、ご一緒させてください。</a:t>
            </a:r>
            <a:endParaRPr lang="en-US" sz="1800" dirty="0"/>
          </a:p>
        </p:txBody>
      </p:sp>
      <p:sp>
        <p:nvSpPr>
          <p:cNvPr id="38" name="Text 33"/>
          <p:cNvSpPr/>
          <p:nvPr/>
        </p:nvSpPr>
        <p:spPr>
          <a:xfrm>
            <a:off x="822960" y="55046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CEEF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貴社の状況に合わせて、最小限のスコープからご提案します。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AI駆動開発 段階的導入のご提案</dc:title>
  <dc:subject>PptxGenJS Presentation</dc:subject>
  <dc:creator>PptxGenJS</dc:creator>
  <cp:lastModifiedBy>PptxGenJS</cp:lastModifiedBy>
  <cp:revision>1</cp:revision>
  <dcterms:created xsi:type="dcterms:W3CDTF">2026-06-17T12:36:45Z</dcterms:created>
  <dcterms:modified xsi:type="dcterms:W3CDTF">2026-06-17T12:36:45Z</dcterms:modified>
</cp:coreProperties>
</file>