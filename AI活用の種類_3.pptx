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82296" cy="475488"/>
          </a:xfrm>
          <a:prstGeom prst="rect">
            <a:avLst/>
          </a:prstGeom>
          <a:solidFill>
            <a:srgbClr val="2E5BF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AI活用の種類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961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AIの活用領域は、社内業務の効率化から顧客対応、システム開発・運用まで多岐にわたります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24231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533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分類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1353312"/>
            <a:ext cx="33375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35331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主な活用シーン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353312"/>
            <a:ext cx="28346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3533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代表的なツール・技術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098280" y="1353312"/>
            <a:ext cx="25603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98280" y="13533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期待される効果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1737360"/>
            <a:ext cx="24231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1737360"/>
            <a:ext cx="33375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737360"/>
            <a:ext cx="28346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98280" y="1737360"/>
            <a:ext cx="256032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" y="187452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75104"/>
            <a:ext cx="219456" cy="21945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79576" y="1737360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業務効率化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3035808" y="1737360"/>
            <a:ext cx="3118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文書・メール作成、議事録、要約・翻訳などの日常業務支援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73368" y="1737360"/>
            <a:ext cx="2615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生成AIチャット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（Claude / ChatGPT / Copilot）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208008" y="1737360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作業時間の削減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生産性向上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2920" y="2432304"/>
            <a:ext cx="2423160" cy="694944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926080" y="2432304"/>
            <a:ext cx="3337560" cy="694944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63640" y="2432304"/>
            <a:ext cx="2834640" cy="694944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098280" y="2432304"/>
            <a:ext cx="2560320" cy="694944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9224" y="256946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670048"/>
            <a:ext cx="219456" cy="21945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179576" y="2432304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ナレッジ活用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3035808" y="2432304"/>
            <a:ext cx="3118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社内規程・マニュアルの検索、問い合わせの自動回答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373368" y="2432304"/>
            <a:ext cx="2615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RAG（社内文書検索）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社内AIアシスタント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9208008" y="243230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属人化の解消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情報アクセス迅速化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02920" y="3127248"/>
            <a:ext cx="24231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2926080" y="3127248"/>
            <a:ext cx="33375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263640" y="3127248"/>
            <a:ext cx="28346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9098280" y="3127248"/>
            <a:ext cx="256032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49224" y="326440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364992"/>
            <a:ext cx="219456" cy="219456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179576" y="3127248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顧客対応</a:t>
            </a:r>
            <a:endParaRPr lang="en-US" sz="1250" dirty="0"/>
          </a:p>
        </p:txBody>
      </p:sp>
      <p:sp>
        <p:nvSpPr>
          <p:cNvPr id="40" name="Text 35"/>
          <p:cNvSpPr/>
          <p:nvPr/>
        </p:nvSpPr>
        <p:spPr>
          <a:xfrm>
            <a:off x="3035808" y="3127248"/>
            <a:ext cx="3118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チャットボット、コールセンター支援、FAQ自動化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6373368" y="3127248"/>
            <a:ext cx="2615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対話型AI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音声認識・要約AI</a:t>
            </a:r>
            <a:endParaRPr lang="en-US" sz="1050" dirty="0"/>
          </a:p>
        </p:txBody>
      </p:sp>
      <p:sp>
        <p:nvSpPr>
          <p:cNvPr id="42" name="Text 37"/>
          <p:cNvSpPr/>
          <p:nvPr/>
        </p:nvSpPr>
        <p:spPr>
          <a:xfrm>
            <a:off x="9208008" y="3127248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対応品質の均一化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24時間対応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502920" y="3822192"/>
            <a:ext cx="2423160" cy="694944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2926080" y="3822192"/>
            <a:ext cx="3337560" cy="694944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6263640" y="3822192"/>
            <a:ext cx="2834640" cy="694944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9098280" y="3822192"/>
            <a:ext cx="2560320" cy="694944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649224" y="395935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059936"/>
            <a:ext cx="219456" cy="219456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1179576" y="3822192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データ分析・予測</a:t>
            </a:r>
            <a:endParaRPr lang="en-US" sz="1250" dirty="0"/>
          </a:p>
        </p:txBody>
      </p:sp>
      <p:sp>
        <p:nvSpPr>
          <p:cNvPr id="50" name="Text 44"/>
          <p:cNvSpPr/>
          <p:nvPr/>
        </p:nvSpPr>
        <p:spPr>
          <a:xfrm>
            <a:off x="3035808" y="3822192"/>
            <a:ext cx="3118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需要予測、異常検知、レポート自動生成</a:t>
            </a:r>
            <a:endParaRPr lang="en-US" sz="1100" dirty="0"/>
          </a:p>
        </p:txBody>
      </p:sp>
      <p:sp>
        <p:nvSpPr>
          <p:cNvPr id="51" name="Text 45"/>
          <p:cNvSpPr/>
          <p:nvPr/>
        </p:nvSpPr>
        <p:spPr>
          <a:xfrm>
            <a:off x="6373368" y="3822192"/>
            <a:ext cx="2615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機械学習モデル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BI×生成AI連携</a:t>
            </a:r>
            <a:endParaRPr lang="en-US" sz="1050" dirty="0"/>
          </a:p>
        </p:txBody>
      </p:sp>
      <p:sp>
        <p:nvSpPr>
          <p:cNvPr id="52" name="Text 46"/>
          <p:cNvSpPr/>
          <p:nvPr/>
        </p:nvSpPr>
        <p:spPr>
          <a:xfrm>
            <a:off x="9208008" y="382219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意思決定の高度化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リスク早期発見</a:t>
            </a:r>
            <a:endParaRPr lang="en-US" sz="1100" dirty="0"/>
          </a:p>
        </p:txBody>
      </p:sp>
      <p:sp>
        <p:nvSpPr>
          <p:cNvPr id="53" name="Shape 47"/>
          <p:cNvSpPr/>
          <p:nvPr/>
        </p:nvSpPr>
        <p:spPr>
          <a:xfrm>
            <a:off x="502920" y="4517136"/>
            <a:ext cx="2423160" cy="694944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2926080" y="4517136"/>
            <a:ext cx="3337560" cy="694944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6263640" y="4517136"/>
            <a:ext cx="2834640" cy="694944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9098280" y="4517136"/>
            <a:ext cx="2560320" cy="694944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649224" y="465429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5BFF"/>
            </a:solidFill>
            <a:prstDash val="solid"/>
          </a:ln>
        </p:spPr>
      </p:sp>
      <p:pic>
        <p:nvPicPr>
          <p:cNvPr id="5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754880"/>
            <a:ext cx="219456" cy="219456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1179576" y="4517136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B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システム開発</a:t>
            </a:r>
            <a:endParaRPr lang="en-US" sz="1250" dirty="0"/>
          </a:p>
        </p:txBody>
      </p:sp>
      <p:sp>
        <p:nvSpPr>
          <p:cNvPr id="60" name="Text 53"/>
          <p:cNvSpPr/>
          <p:nvPr/>
        </p:nvSpPr>
        <p:spPr>
          <a:xfrm>
            <a:off x="3035808" y="4517136"/>
            <a:ext cx="3118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コード生成・レビュー、テスト自動化、設計支援</a:t>
            </a:r>
            <a:endParaRPr lang="en-US" sz="1100" dirty="0"/>
          </a:p>
        </p:txBody>
      </p:sp>
      <p:sp>
        <p:nvSpPr>
          <p:cNvPr id="61" name="Text 54"/>
          <p:cNvSpPr/>
          <p:nvPr/>
        </p:nvSpPr>
        <p:spPr>
          <a:xfrm>
            <a:off x="6373368" y="4517136"/>
            <a:ext cx="2615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 Editor（Cursor 等）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AI駆動開発（Claude Code 等）</a:t>
            </a:r>
            <a:endParaRPr lang="en-US" sz="1050" dirty="0"/>
          </a:p>
        </p:txBody>
      </p:sp>
      <p:sp>
        <p:nvSpPr>
          <p:cNvPr id="62" name="Text 55"/>
          <p:cNvSpPr/>
          <p:nvPr/>
        </p:nvSpPr>
        <p:spPr>
          <a:xfrm>
            <a:off x="9208008" y="4517136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開発スピード向上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品質・保守性の改善</a:t>
            </a:r>
            <a:endParaRPr lang="en-US" sz="1100" dirty="0"/>
          </a:p>
        </p:txBody>
      </p:sp>
      <p:sp>
        <p:nvSpPr>
          <p:cNvPr id="63" name="Shape 56"/>
          <p:cNvSpPr/>
          <p:nvPr/>
        </p:nvSpPr>
        <p:spPr>
          <a:xfrm>
            <a:off x="502920" y="5212080"/>
            <a:ext cx="2423160" cy="694944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2926080" y="5212080"/>
            <a:ext cx="3337560" cy="694944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6263640" y="5212080"/>
            <a:ext cx="2834640" cy="694944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9098280" y="5212080"/>
            <a:ext cx="2560320" cy="694944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7" name="Shape 60"/>
          <p:cNvSpPr/>
          <p:nvPr/>
        </p:nvSpPr>
        <p:spPr>
          <a:xfrm>
            <a:off x="649224" y="534924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5BFF"/>
            </a:solidFill>
            <a:prstDash val="solid"/>
          </a:ln>
        </p:spPr>
      </p:sp>
      <p:pic>
        <p:nvPicPr>
          <p:cNvPr id="6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449824"/>
            <a:ext cx="219456" cy="219456"/>
          </a:xfrm>
          <a:prstGeom prst="rect">
            <a:avLst/>
          </a:prstGeom>
        </p:spPr>
      </p:pic>
      <p:sp>
        <p:nvSpPr>
          <p:cNvPr id="69" name="Text 61"/>
          <p:cNvSpPr/>
          <p:nvPr/>
        </p:nvSpPr>
        <p:spPr>
          <a:xfrm>
            <a:off x="1179576" y="5212080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B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システム運用保守</a:t>
            </a:r>
            <a:endParaRPr lang="en-US" sz="1250" dirty="0"/>
          </a:p>
        </p:txBody>
      </p:sp>
      <p:sp>
        <p:nvSpPr>
          <p:cNvPr id="70" name="Text 62"/>
          <p:cNvSpPr/>
          <p:nvPr/>
        </p:nvSpPr>
        <p:spPr>
          <a:xfrm>
            <a:off x="3035808" y="5212080"/>
            <a:ext cx="3118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ユーザー問い合わせ対応の自動化（Jira連携）、障害解析、ナレッジ化</a:t>
            </a:r>
            <a:endParaRPr lang="en-US" sz="1100" dirty="0"/>
          </a:p>
        </p:txBody>
      </p:sp>
      <p:sp>
        <p:nvSpPr>
          <p:cNvPr id="71" name="Text 63"/>
          <p:cNvSpPr/>
          <p:nvPr/>
        </p:nvSpPr>
        <p:spPr>
          <a:xfrm>
            <a:off x="6373368" y="5212080"/>
            <a:ext cx="2615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AIエージェント×Jira連携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RAG・ログ解析AI</a:t>
            </a:r>
            <a:endParaRPr lang="en-US" sz="1050" dirty="0"/>
          </a:p>
        </p:txBody>
      </p:sp>
      <p:sp>
        <p:nvSpPr>
          <p:cNvPr id="72" name="Text 64"/>
          <p:cNvSpPr/>
          <p:nvPr/>
        </p:nvSpPr>
        <p:spPr>
          <a:xfrm>
            <a:off x="9208008" y="5212080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一次対応工数の削減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運用の属人化解消</a:t>
            </a:r>
            <a:endParaRPr lang="en-US" sz="1100" dirty="0"/>
          </a:p>
        </p:txBody>
      </p:sp>
      <p:sp>
        <p:nvSpPr>
          <p:cNvPr id="73" name="Shape 65"/>
          <p:cNvSpPr/>
          <p:nvPr/>
        </p:nvSpPr>
        <p:spPr>
          <a:xfrm>
            <a:off x="502920" y="6053328"/>
            <a:ext cx="11155680" cy="530352"/>
          </a:xfrm>
          <a:prstGeom prst="roundRect">
            <a:avLst>
              <a:gd name="adj" fmla="val 10345"/>
            </a:avLst>
          </a:prstGeom>
          <a:solidFill>
            <a:srgbClr val="EAF1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4" name="Text 66"/>
          <p:cNvSpPr/>
          <p:nvPr/>
        </p:nvSpPr>
        <p:spPr>
          <a:xfrm>
            <a:off x="777240" y="60533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B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本日のご提案範囲：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システム開発・運用保守におけるAI活用（運用保守の活用例は次ページ、開発の進め方は3ページ目をご覧ください）</a:t>
            </a:r>
            <a:endParaRPr lang="en-US" sz="1250" dirty="0"/>
          </a:p>
        </p:txBody>
      </p:sp>
      <p:sp>
        <p:nvSpPr>
          <p:cNvPr id="75" name="Text 67"/>
          <p:cNvSpPr/>
          <p:nvPr/>
        </p:nvSpPr>
        <p:spPr>
          <a:xfrm>
            <a:off x="11201400" y="2926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82296" cy="475488"/>
          </a:xfrm>
          <a:prstGeom prst="rect">
            <a:avLst/>
          </a:prstGeom>
          <a:solidFill>
            <a:srgbClr val="2E5BF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システム運用保守におけるAI活用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961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社内業務アプリの運用保守では、問い合わせ対応から保守開発まで、幅広い業務にAIを適用できます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35024"/>
            <a:ext cx="21031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350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業務領域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06040" y="1335024"/>
            <a:ext cx="30175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33502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現状のよくある課題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23560" y="1335024"/>
            <a:ext cx="36576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3350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AI活用イメージ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281160" y="1335024"/>
            <a:ext cx="23774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81160" y="13350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期待される効果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1719072"/>
            <a:ext cx="2103120" cy="713232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1719072"/>
            <a:ext cx="3017520" cy="713232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23560" y="1719072"/>
            <a:ext cx="3657600" cy="713232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81160" y="1719072"/>
            <a:ext cx="2377440" cy="713232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" y="186537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5BFF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65960"/>
            <a:ext cx="219456" cy="21945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43000" y="1719072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B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5B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問い合わせ対応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715768" y="1719072"/>
            <a:ext cx="2798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同様の質問が繰り返し起票され、一次対応に工数を取られる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733288" y="1719072"/>
            <a:ext cx="3438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Jiraチケットの自動分類・優先度付け、過去チケット・マニュアルを参照した一次回答の自動生成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390888" y="1719072"/>
            <a:ext cx="2157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一次対応工数を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大幅削減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2920" y="2432304"/>
            <a:ext cx="2103120" cy="713232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606040" y="2432304"/>
            <a:ext cx="3017520" cy="713232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23560" y="2432304"/>
            <a:ext cx="3657600" cy="713232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281160" y="2432304"/>
            <a:ext cx="2377440" cy="713232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0936" y="257860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79192"/>
            <a:ext cx="219456" cy="21945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143000" y="2432304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障害対応・監視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2715768" y="2432304"/>
            <a:ext cx="2798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アラートが多く、原因特定がベテラン頼みになっている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5733288" y="2432304"/>
            <a:ext cx="3438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ログ・アラートのAI要約、原因候補と対応手順の提示、障害報告書のドラフト作成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9390888" y="2432304"/>
            <a:ext cx="2157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復旧時間（MTTR）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の短縮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02920" y="3145536"/>
            <a:ext cx="21031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2606040" y="3145536"/>
            <a:ext cx="3017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23560" y="3145536"/>
            <a:ext cx="3657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9281160" y="3145536"/>
            <a:ext cx="23774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30936" y="329184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92424"/>
            <a:ext cx="219456" cy="219456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143000" y="3145536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ナレッジ管理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2715768" y="3145536"/>
            <a:ext cx="2798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対応履歴が個人に蓄積し、ドキュメントが陳腐化している</a:t>
            </a:r>
            <a:endParaRPr lang="en-US" sz="1050" dirty="0"/>
          </a:p>
        </p:txBody>
      </p:sp>
      <p:sp>
        <p:nvSpPr>
          <p:cNvPr id="41" name="Text 36"/>
          <p:cNvSpPr/>
          <p:nvPr/>
        </p:nvSpPr>
        <p:spPr>
          <a:xfrm>
            <a:off x="5733288" y="3145536"/>
            <a:ext cx="3438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過去チケットからFAQ・ナレッジを自動生成。マニュアルや対応履歴を横断して検索できる環境を整備</a:t>
            </a:r>
            <a:endParaRPr lang="en-US" sz="1050" dirty="0"/>
          </a:p>
        </p:txBody>
      </p:sp>
      <p:sp>
        <p:nvSpPr>
          <p:cNvPr id="42" name="Text 37"/>
          <p:cNvSpPr/>
          <p:nvPr/>
        </p:nvSpPr>
        <p:spPr>
          <a:xfrm>
            <a:off x="9390888" y="3145536"/>
            <a:ext cx="2157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属人化の解消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引き継ぎの容易化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502920" y="3858768"/>
            <a:ext cx="2103120" cy="713232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2606040" y="3858768"/>
            <a:ext cx="3017520" cy="713232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5623560" y="3858768"/>
            <a:ext cx="3657600" cy="713232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9281160" y="3858768"/>
            <a:ext cx="2377440" cy="713232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630936" y="400507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05656"/>
            <a:ext cx="219456" cy="219456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1143000" y="3858768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定型運用・報告</a:t>
            </a:r>
            <a:endParaRPr lang="en-US" sz="1200" dirty="0"/>
          </a:p>
        </p:txBody>
      </p:sp>
      <p:sp>
        <p:nvSpPr>
          <p:cNvPr id="50" name="Text 44"/>
          <p:cNvSpPr/>
          <p:nvPr/>
        </p:nvSpPr>
        <p:spPr>
          <a:xfrm>
            <a:off x="2715768" y="3858768"/>
            <a:ext cx="2798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月次運用レポートや手順書の更新に時間がかかる</a:t>
            </a:r>
            <a:endParaRPr lang="en-US" sz="1050" dirty="0"/>
          </a:p>
        </p:txBody>
      </p:sp>
      <p:sp>
        <p:nvSpPr>
          <p:cNvPr id="51" name="Text 45"/>
          <p:cNvSpPr/>
          <p:nvPr/>
        </p:nvSpPr>
        <p:spPr>
          <a:xfrm>
            <a:off x="5733288" y="3858768"/>
            <a:ext cx="3438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運用レポート・リリースノートの自動作成、手順書のドラフト生成・更新支援</a:t>
            </a:r>
            <a:endParaRPr lang="en-US" sz="1050" dirty="0"/>
          </a:p>
        </p:txBody>
      </p:sp>
      <p:sp>
        <p:nvSpPr>
          <p:cNvPr id="52" name="Text 46"/>
          <p:cNvSpPr/>
          <p:nvPr/>
        </p:nvSpPr>
        <p:spPr>
          <a:xfrm>
            <a:off x="9390888" y="3858768"/>
            <a:ext cx="2157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定型作業の省力化</a:t>
            </a:r>
            <a:endParaRPr lang="en-US" sz="1100" dirty="0"/>
          </a:p>
        </p:txBody>
      </p:sp>
      <p:sp>
        <p:nvSpPr>
          <p:cNvPr id="53" name="Shape 47"/>
          <p:cNvSpPr/>
          <p:nvPr/>
        </p:nvSpPr>
        <p:spPr>
          <a:xfrm>
            <a:off x="502920" y="4572000"/>
            <a:ext cx="21031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2606040" y="4572000"/>
            <a:ext cx="3017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5623560" y="4572000"/>
            <a:ext cx="3657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9281160" y="4572000"/>
            <a:ext cx="23774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630936" y="471830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818888"/>
            <a:ext cx="219456" cy="219456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1143000" y="457200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保守開発</a:t>
            </a:r>
            <a:endParaRPr lang="en-US" sz="1200" dirty="0"/>
          </a:p>
        </p:txBody>
      </p:sp>
      <p:sp>
        <p:nvSpPr>
          <p:cNvPr id="60" name="Text 53"/>
          <p:cNvSpPr/>
          <p:nvPr/>
        </p:nvSpPr>
        <p:spPr>
          <a:xfrm>
            <a:off x="2715768" y="4572000"/>
            <a:ext cx="2798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改修時の影響調査に時間がかかる。仕様書が無い・古い</a:t>
            </a:r>
            <a:endParaRPr lang="en-US" sz="1050" dirty="0"/>
          </a:p>
        </p:txBody>
      </p:sp>
      <p:sp>
        <p:nvSpPr>
          <p:cNvPr id="61" name="Text 54"/>
          <p:cNvSpPr/>
          <p:nvPr/>
        </p:nvSpPr>
        <p:spPr>
          <a:xfrm>
            <a:off x="5733288" y="4572000"/>
            <a:ext cx="3438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AIによる既存コードの解析・影響調査、仕様書のリバース生成、小規模改修のAI支援</a:t>
            </a:r>
            <a:endParaRPr lang="en-US" sz="1050" dirty="0"/>
          </a:p>
        </p:txBody>
      </p:sp>
      <p:sp>
        <p:nvSpPr>
          <p:cNvPr id="62" name="Text 55"/>
          <p:cNvSpPr/>
          <p:nvPr/>
        </p:nvSpPr>
        <p:spPr>
          <a:xfrm>
            <a:off x="9390888" y="4572000"/>
            <a:ext cx="2157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改修リードタイム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の短縮</a:t>
            </a:r>
            <a:endParaRPr lang="en-US" sz="1100" dirty="0"/>
          </a:p>
        </p:txBody>
      </p:sp>
      <p:sp>
        <p:nvSpPr>
          <p:cNvPr id="63" name="Text 56"/>
          <p:cNvSpPr/>
          <p:nvPr/>
        </p:nvSpPr>
        <p:spPr>
          <a:xfrm>
            <a:off x="502920" y="54132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活用例：Jiraを起点としたユーザー問い合わせ対応の自動化</a:t>
            </a:r>
            <a:endParaRPr lang="en-US" sz="1300" dirty="0"/>
          </a:p>
        </p:txBody>
      </p:sp>
      <p:sp>
        <p:nvSpPr>
          <p:cNvPr id="64" name="Shape 57"/>
          <p:cNvSpPr/>
          <p:nvPr/>
        </p:nvSpPr>
        <p:spPr>
          <a:xfrm>
            <a:off x="502920" y="5760720"/>
            <a:ext cx="2514600" cy="658368"/>
          </a:xfrm>
          <a:prstGeom prst="roundRect">
            <a:avLst>
              <a:gd name="adj" fmla="val 9722"/>
            </a:avLst>
          </a:prstGeom>
          <a:solidFill>
            <a:srgbClr val="EAF1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5" name="Shape 58"/>
          <p:cNvSpPr/>
          <p:nvPr/>
        </p:nvSpPr>
        <p:spPr>
          <a:xfrm>
            <a:off x="630936" y="5934456"/>
            <a:ext cx="310896" cy="310896"/>
          </a:xfrm>
          <a:prstGeom prst="ellipse">
            <a:avLst/>
          </a:prstGeom>
          <a:solidFill>
            <a:srgbClr val="2E5BFF"/>
          </a:solidFill>
          <a:ln/>
        </p:spPr>
      </p:sp>
      <p:sp>
        <p:nvSpPr>
          <p:cNvPr id="66" name="Text 59"/>
          <p:cNvSpPr/>
          <p:nvPr/>
        </p:nvSpPr>
        <p:spPr>
          <a:xfrm>
            <a:off x="630936" y="5934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7" name="Text 60"/>
          <p:cNvSpPr/>
          <p:nvPr/>
        </p:nvSpPr>
        <p:spPr>
          <a:xfrm>
            <a:off x="1014984" y="576072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Jiraに起票</a:t>
            </a:r>
            <a:endParaRPr lang="en-US" sz="1050" dirty="0"/>
          </a:p>
        </p:txBody>
      </p:sp>
      <p:sp>
        <p:nvSpPr>
          <p:cNvPr id="68" name="Shape 61"/>
          <p:cNvSpPr/>
          <p:nvPr/>
        </p:nvSpPr>
        <p:spPr>
          <a:xfrm>
            <a:off x="3081528" y="6012180"/>
            <a:ext cx="237744" cy="155448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2"/>
          <p:cNvSpPr/>
          <p:nvPr/>
        </p:nvSpPr>
        <p:spPr>
          <a:xfrm>
            <a:off x="3383280" y="5760720"/>
            <a:ext cx="2514600" cy="658368"/>
          </a:xfrm>
          <a:prstGeom prst="roundRect">
            <a:avLst>
              <a:gd name="adj" fmla="val 9722"/>
            </a:avLst>
          </a:prstGeom>
          <a:solidFill>
            <a:srgbClr val="EAF1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3"/>
          <p:cNvSpPr/>
          <p:nvPr/>
        </p:nvSpPr>
        <p:spPr>
          <a:xfrm>
            <a:off x="3511296" y="5934456"/>
            <a:ext cx="310896" cy="310896"/>
          </a:xfrm>
          <a:prstGeom prst="ellipse">
            <a:avLst/>
          </a:prstGeom>
          <a:solidFill>
            <a:srgbClr val="2E5BFF"/>
          </a:solidFill>
          <a:ln/>
        </p:spPr>
      </p:sp>
      <p:sp>
        <p:nvSpPr>
          <p:cNvPr id="71" name="Text 64"/>
          <p:cNvSpPr/>
          <p:nvPr/>
        </p:nvSpPr>
        <p:spPr>
          <a:xfrm>
            <a:off x="3511296" y="5934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72" name="Text 65"/>
          <p:cNvSpPr/>
          <p:nvPr/>
        </p:nvSpPr>
        <p:spPr>
          <a:xfrm>
            <a:off x="3895344" y="576072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AIが内容を解析し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自動で分類・優先度付け</a:t>
            </a:r>
            <a:endParaRPr lang="en-US" sz="1050" dirty="0"/>
          </a:p>
        </p:txBody>
      </p:sp>
      <p:sp>
        <p:nvSpPr>
          <p:cNvPr id="73" name="Shape 66"/>
          <p:cNvSpPr/>
          <p:nvPr/>
        </p:nvSpPr>
        <p:spPr>
          <a:xfrm>
            <a:off x="5961888" y="6012180"/>
            <a:ext cx="237744" cy="155448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67"/>
          <p:cNvSpPr/>
          <p:nvPr/>
        </p:nvSpPr>
        <p:spPr>
          <a:xfrm>
            <a:off x="6263640" y="5760720"/>
            <a:ext cx="2514600" cy="658368"/>
          </a:xfrm>
          <a:prstGeom prst="roundRect">
            <a:avLst>
              <a:gd name="adj" fmla="val 9722"/>
            </a:avLst>
          </a:prstGeom>
          <a:solidFill>
            <a:srgbClr val="EAF1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5" name="Shape 68"/>
          <p:cNvSpPr/>
          <p:nvPr/>
        </p:nvSpPr>
        <p:spPr>
          <a:xfrm>
            <a:off x="6391656" y="5934456"/>
            <a:ext cx="310896" cy="310896"/>
          </a:xfrm>
          <a:prstGeom prst="ellipse">
            <a:avLst/>
          </a:prstGeom>
          <a:solidFill>
            <a:srgbClr val="2E5BFF"/>
          </a:solidFill>
          <a:ln/>
        </p:spPr>
      </p:sp>
      <p:sp>
        <p:nvSpPr>
          <p:cNvPr id="76" name="Text 69"/>
          <p:cNvSpPr/>
          <p:nvPr/>
        </p:nvSpPr>
        <p:spPr>
          <a:xfrm>
            <a:off x="6391656" y="5934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77" name="Text 70"/>
          <p:cNvSpPr/>
          <p:nvPr/>
        </p:nvSpPr>
        <p:spPr>
          <a:xfrm>
            <a:off x="6775704" y="576072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ナレッジを参照し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一次回答を自動投稿</a:t>
            </a:r>
            <a:endParaRPr lang="en-US" sz="1050" dirty="0"/>
          </a:p>
        </p:txBody>
      </p:sp>
      <p:sp>
        <p:nvSpPr>
          <p:cNvPr id="78" name="Shape 71"/>
          <p:cNvSpPr/>
          <p:nvPr/>
        </p:nvSpPr>
        <p:spPr>
          <a:xfrm>
            <a:off x="8842248" y="6012180"/>
            <a:ext cx="237744" cy="155448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2"/>
          <p:cNvSpPr/>
          <p:nvPr/>
        </p:nvSpPr>
        <p:spPr>
          <a:xfrm>
            <a:off x="9144000" y="5760720"/>
            <a:ext cx="2514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dash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0" name="Shape 73"/>
          <p:cNvSpPr/>
          <p:nvPr/>
        </p:nvSpPr>
        <p:spPr>
          <a:xfrm>
            <a:off x="9272016" y="593445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1" name="Text 74"/>
          <p:cNvSpPr/>
          <p:nvPr/>
        </p:nvSpPr>
        <p:spPr>
          <a:xfrm>
            <a:off x="9272016" y="5934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82" name="Text 75"/>
          <p:cNvSpPr/>
          <p:nvPr/>
        </p:nvSpPr>
        <p:spPr>
          <a:xfrm>
            <a:off x="9656064" y="576072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未解決のみ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担当者へエスカレーション</a:t>
            </a:r>
            <a:endParaRPr lang="en-US" sz="1050" dirty="0"/>
          </a:p>
        </p:txBody>
      </p:sp>
      <p:sp>
        <p:nvSpPr>
          <p:cNvPr id="83" name="Text 76"/>
          <p:cNvSpPr/>
          <p:nvPr/>
        </p:nvSpPr>
        <p:spPr>
          <a:xfrm>
            <a:off x="11201400" y="2926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82296" cy="475488"/>
          </a:xfrm>
          <a:prstGeom prst="rect">
            <a:avLst/>
          </a:prstGeom>
          <a:solidFill>
            <a:srgbClr val="2E5BF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システム開発におけるAI活用のステップ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961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個人でのAIチャット利用から小さく始め、効果を確かめながら段階的に適用範囲を広げていきます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783080" y="12984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AI活用の成熟度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37560" y="1426464"/>
            <a:ext cx="8129016" cy="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02920" y="1591056"/>
            <a:ext cx="1234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1591056"/>
            <a:ext cx="2478024" cy="658368"/>
          </a:xfrm>
          <a:prstGeom prst="rect">
            <a:avLst/>
          </a:prstGeom>
          <a:solidFill>
            <a:srgbClr val="8FA8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591056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E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</a:t>
            </a:r>
            <a:endParaRPr lang="en-US" sz="10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AIチャット活用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15384" y="1591056"/>
            <a:ext cx="2478024" cy="658368"/>
          </a:xfrm>
          <a:prstGeom prst="rect">
            <a:avLst/>
          </a:prstGeom>
          <a:solidFill>
            <a:srgbClr val="5C7B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15384" y="1591056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E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10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 Editor導入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93408" y="1591056"/>
            <a:ext cx="2478024" cy="658368"/>
          </a:xfrm>
          <a:prstGeom prst="rect">
            <a:avLst/>
          </a:prstGeom>
          <a:solidFill>
            <a:srgbClr val="3350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93408" y="1591056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E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</a:t>
            </a:r>
            <a:endParaRPr lang="en-US" sz="10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AIエージェント活用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71432" y="1591056"/>
            <a:ext cx="2478024" cy="658368"/>
          </a:xfrm>
          <a:prstGeom prst="rect">
            <a:avLst/>
          </a:prstGeom>
          <a:solidFill>
            <a:srgbClr val="2E5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71432" y="1591056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E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4</a:t>
            </a:r>
            <a:endParaRPr lang="en-US" sz="10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AI駆動開発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249424"/>
            <a:ext cx="1234440" cy="93268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249424"/>
            <a:ext cx="1234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活用イメージ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37360" y="2249424"/>
            <a:ext cx="2478024" cy="932688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65376" y="2249424"/>
            <a:ext cx="2221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調査・設計の壁打ち、コード片の生成、エラー解決の相談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15384" y="2249424"/>
            <a:ext cx="2478024" cy="932688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2249424"/>
            <a:ext cx="2221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IDE上でのコード補完・生成、リファクタリング支援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93408" y="2249424"/>
            <a:ext cx="2478024" cy="932688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21424" y="2249424"/>
            <a:ext cx="2221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タスク単位で実装～テストをAIに委任、コードレビューの自動化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71432" y="2249424"/>
            <a:ext cx="2478024" cy="932688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99448" y="2249424"/>
            <a:ext cx="2221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要件定義～設計～実装～テストのプロセス全体をAI前提に再構築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3182112"/>
            <a:ext cx="123444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18211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主なツール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737360" y="3182112"/>
            <a:ext cx="247802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65376" y="3182112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Claude / ChatGPT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15384" y="3182112"/>
            <a:ext cx="247802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3400" y="3182112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GitHub Copilot / Cursor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693408" y="3182112"/>
            <a:ext cx="247802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21424" y="3182112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Claude Code 等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171432" y="3182112"/>
            <a:ext cx="2478024" cy="566928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99448" y="3182112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AIエージェント×CI/CD連携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3749040"/>
            <a:ext cx="123444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74904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AIの役割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737360" y="3749040"/>
            <a:ext cx="2478024" cy="749808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65376" y="3749040"/>
            <a:ext cx="2221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相談相手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（人が開発の主体）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215384" y="3749040"/>
            <a:ext cx="2478024" cy="749808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43400" y="3749040"/>
            <a:ext cx="2221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ペアプログラマー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（人と並走）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693408" y="3749040"/>
            <a:ext cx="2478024" cy="749808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21424" y="3749040"/>
            <a:ext cx="2221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開発メンバー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（人が指示・レビュー）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171432" y="3749040"/>
            <a:ext cx="2478024" cy="749808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99448" y="3749040"/>
            <a:ext cx="2221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開発の主担当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（人は意思決定と品質保証）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02920" y="4498848"/>
            <a:ext cx="123444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49884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期待される効果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737360" y="4498848"/>
            <a:ext cx="247802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65376" y="4498848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調査・検討時間の短縮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215384" y="4498848"/>
            <a:ext cx="247802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43400" y="4498848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コーディング速度の向上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693408" y="4498848"/>
            <a:ext cx="247802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21424" y="4498848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開発工数の大幅削減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9171432" y="4498848"/>
            <a:ext cx="2478024" cy="566928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99448" y="4498848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5B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開発リードタイムの大幅短縮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02920" y="5065776"/>
            <a:ext cx="123444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5065776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導入時のポイント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737360" y="5065776"/>
            <a:ext cx="2478024" cy="749808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65376" y="5065776"/>
            <a:ext cx="2221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利用ガイドラインの整備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（機密情報の取り扱いなど）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215384" y="5065776"/>
            <a:ext cx="2478024" cy="749808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43400" y="5065776"/>
            <a:ext cx="2221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ツールの選定・契約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セキュリティ要件の確認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693408" y="5065776"/>
            <a:ext cx="2478024" cy="749808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21424" y="5065776"/>
            <a:ext cx="2221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AIに任せるタスクの選定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レビュー体制の整備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9171432" y="5065776"/>
            <a:ext cx="2478024" cy="749808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299448" y="5065776"/>
            <a:ext cx="2221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開発プロセス・体制の再設計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品質保証の仕組みづくり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02920" y="5980176"/>
            <a:ext cx="11146536" cy="530352"/>
          </a:xfrm>
          <a:prstGeom prst="roundRect">
            <a:avLst>
              <a:gd name="adj" fmla="val 10345"/>
            </a:avLst>
          </a:prstGeom>
          <a:solidFill>
            <a:srgbClr val="EAF1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777240" y="5980176"/>
            <a:ext cx="10597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B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進め方のポイント：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STEP 1～2は短期間・低コストで導入でき、効果も確認しやすい領域です（STEP 4の詳細は次ページ）</a:t>
            </a:r>
            <a:endParaRPr lang="en-US" sz="1250" dirty="0"/>
          </a:p>
        </p:txBody>
      </p:sp>
      <p:sp>
        <p:nvSpPr>
          <p:cNvPr id="68" name="Text 66"/>
          <p:cNvSpPr/>
          <p:nvPr/>
        </p:nvSpPr>
        <p:spPr>
          <a:xfrm>
            <a:off x="11201400" y="2926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AI活用の種類</dc:title>
  <dc:subject>PptxGenJS Presentation</dc:subject>
  <dc:creator>PptxGenJS</dc:creator>
  <cp:lastModifiedBy>PptxGenJS</cp:lastModifiedBy>
  <cp:revision>1</cp:revision>
  <dcterms:created xsi:type="dcterms:W3CDTF">2026-06-11T20:27:36Z</dcterms:created>
  <dcterms:modified xsi:type="dcterms:W3CDTF">2026-06-11T20:27:36Z</dcterms:modified>
</cp:coreProperties>
</file>