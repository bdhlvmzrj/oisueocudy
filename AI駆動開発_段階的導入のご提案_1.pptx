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920240" cy="1920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1234440"/>
            <a:ext cx="1097280" cy="10972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554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417320"/>
            <a:ext cx="39776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8FC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173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 導入のご提案（第2回）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コストを抑え、内製化を進める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 段階的導入のご提案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現在の開発・運用のうち「AIに任せられる作業」から切り出し、お客様自身で回せる範囲（内製）を計画的に広げます。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2026年6月　｜　ご提案資料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前回のご提案を踏まえて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いただいたご反応・ご懸念を整理し、それぞれに対する今回の打ち手を明確にします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11704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コスト最適化が重要な経営テーマと伺っており、その前提でご提案します。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06324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6324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ご関心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0467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Jiraでの問い合わせ対応にご関心。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既に運用中で効果を出しやすい。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0467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一次受けから着手し、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早期に効果を実感いただきます。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4340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8114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105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85800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5A64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800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継続検討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8114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9943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9943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全面適用は時期尚早だが、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自動化の余地はある。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9943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9943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工程を切り出し、置き換え可能な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作業から段階的に適用します。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13816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37590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81051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0684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65276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91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65276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37590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39419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839419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ナレッジベース構築にかかる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SI費用にご懸念。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39419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39419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既存資産＋テンプレート活用で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SI費を圧縮します（後述）。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548640" y="431596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28032"/>
            <a:ext cx="274320" cy="27432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828032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691640" y="44988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本日のご提案テーマ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1691640" y="482803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大きな投資ではなく、段階的・部分適用で「コストを抑えながら内製化を進める」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ご提案の基本方針：一気にではなく、段階的に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全工程を一度に置き換えるのではなく、作業を切り出してAIに任せ、内製範囲を計画的に広げます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64792"/>
            <a:ext cx="475488" cy="475488"/>
          </a:xfrm>
          <a:prstGeom prst="ellipse">
            <a:avLst/>
          </a:prstGeom>
          <a:solidFill>
            <a:srgbClr val="FBEEE3"/>
          </a:solidFill>
          <a:ln w="12700">
            <a:solidFill>
              <a:srgbClr val="F0D6B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836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783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6A2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一気に全置き換え（難しい）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0584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初期コスト・リスクが大きく、投資判断が重い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効果が出る前に頓挫し、現場が混乱しやすい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業務知識の整理が追いつかず形骸化する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AF6FC"/>
          </a:solidFill>
          <a:ln w="15875">
            <a:solidFill>
              <a:srgbClr val="0094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92240" y="1764792"/>
            <a:ext cx="475488" cy="475488"/>
          </a:xfrm>
          <a:prstGeom prst="ellipse">
            <a:avLst/>
          </a:prstGeom>
          <a:solidFill>
            <a:srgbClr val="E2F3EA"/>
          </a:solidFill>
          <a:ln w="12700">
            <a:solidFill>
              <a:srgbClr val="BFE3D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8366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1783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段階的に部分適用（おすすめ）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67512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小さく始め、低リスク・低コストで検証できる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効果を確認しながら適用範囲を広げられる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SI依存を減らし、内製でできる範囲が増える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0467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24358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切り出す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307238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2900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5FAFD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59359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59359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03250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86130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1792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8251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8251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82142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範囲を拡げる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65022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00684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7143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17143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961034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内製化（自走）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640080" y="5074920"/>
            <a:ext cx="3108960" cy="384048"/>
          </a:xfrm>
          <a:prstGeom prst="roundRect">
            <a:avLst>
              <a:gd name="adj" fmla="val 50000"/>
            </a:avLst>
          </a:prstGeom>
          <a:ln w="12700">
            <a:solidFill>
              <a:srgbClr val="0068B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SIへの依存：減少 ↓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275320" y="5074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275320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お客様の内製範囲：拡大 ↑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40080" y="56509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本日は「どの作業をAIに任せられるか（次ページ）」と「どこから始め、どこをゴールにするか」を具体化します。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工程別：AIエージェントに置き換えられる作業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要件定義から保守・運用まで。色が濃いほどAIに任せられる作業です（判断・現場対話は人が担当）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置き換え可能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82396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8972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一部支援（AI補助）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78992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人が主導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9913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各工場担当者へのヒアリング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関連資料・過去要件の収集整理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ヒアリング結果の要件整理・文書化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抜け漏れ・曖昧点の洗い出し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30428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0428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937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0428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39572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方式・アーキテクチャ設計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30428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9572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既存仕様の調査・整理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30428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9572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設計書のドラフト作成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30428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9572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設計レビュー・整合性チェック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22452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2452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3961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22452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1596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定型コードの生成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22452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1596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単体テストの実装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22452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1596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コードレビュー補助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22452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1596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複雑なロジックの作り込み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14476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4476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95985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4476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3620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テストケース・コード生成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14476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3620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テスト実行・回帰テスト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14476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3620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テスト結果の集計・報告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14476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623620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受け入れ基準の判断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806500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6500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移行・リリース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88009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6500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15644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手順書・リリースノート作成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06500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15644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移行データの整合チェック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806500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15644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切り戻し手順の整備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806500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815644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リリース可否の最終判断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998524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98524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保守・運用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998524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07668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問い合わせの一次受け・回答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998524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07668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FAQ・ナレッジの自動更新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998524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07668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障害の一次切り分け・ログ解析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998524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7" name="Text 74"/>
          <p:cNvSpPr/>
          <p:nvPr/>
        </p:nvSpPr>
        <p:spPr>
          <a:xfrm>
            <a:off x="1007668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重大障害の最終対応・判断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384048" y="5623560"/>
            <a:ext cx="11411712" cy="713232"/>
          </a:xfrm>
          <a:prstGeom prst="roundRect">
            <a:avLst>
              <a:gd name="adj" fmla="val 11538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6235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「判断」と「現場との対話」は人が担い、「整理・生成・定型処理」はAIへ。　</a:t>
            </a:r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例）要件は人がヒアリングし、その整理・文書化はAIが担当。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各作業へのAI導入方法（5つのパターン）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工程マップ（前ページ）の作業ごとに、主に次の5つの方法でAIを導入します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1732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AI導入方法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50208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対象アイテム（例）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62672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導入の進め方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481328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1627632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176022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1481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文書ドラフト生成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94760" y="1627632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50208" y="148132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要件の整理・文書化／設計書ドラフト／手順書作成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507224" y="1627632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62672" y="148132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既存フォーマットを基にAIがドラフト生成 → 人がレビュー・確定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414016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2560320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692908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241401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ナレッジ検索・一次回答（RAG）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794760" y="2560320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950208" y="241401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問い合わせ一次回答／FAQ更新／資料・仕様の調査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507224" y="2560320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662672" y="241401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過去チケット・マニュアルを検索基盤に取り込み、質問に回答・要約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3346704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7240" y="3493008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625596"/>
            <a:ext cx="265176" cy="2651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3467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コード生成・レビュー補助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794760" y="3493008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950208" y="334670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定型コード生成／単体テスト実装／レビュー補助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07224" y="3493008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662672" y="334670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Editor・エージェントを開発環境に組み込み、規約に沿って生成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8640" y="4279392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77240" y="4425696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558284"/>
            <a:ext cx="265176" cy="2651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17320" y="42793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テスト自動化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3794760" y="4425696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950208" y="42793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テストケース生成／回帰テスト／結果集計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507224" y="4425696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662672" y="42793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仕様からテストを生成し、CI/CDに組み込んで自動実行・集計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777240" y="5358384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490972"/>
            <a:ext cx="265176" cy="26517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41732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ログ・データ解析（検知）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3794760" y="5358384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3950208" y="5212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障害の一次切り分け／移行データ整合／整合性チェック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7507224" y="5358384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662672" y="52120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ログ・データをAIが解析し、異常・差分・矛盾を検出して提示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548640" y="618134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まずはRAGによる「一次回答」から着手し、効果を見ながら他の方法へ広げるのがおすすめです。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iOS＋AWSにおけるAI活用：開発とテスト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フロント（iOSアプリ）とバックエンド（API Gateway＋Lambda）それぞれの開発・テストに、AIをこう使います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5440680" cy="4096512"/>
          </a:xfrm>
          <a:prstGeom prst="roundRect">
            <a:avLst>
              <a:gd name="adj" fmla="val 20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1463040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595628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3898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iOSアプリ（Swift / SwiftUI）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7240" y="2011680"/>
            <a:ext cx="489204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3639312"/>
            <a:ext cx="489204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213969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" y="250545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77240" y="26700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Xcode 26 Coding Intelligence（Claude/ChatGPT内蔵）、Claude Code、Cursor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" y="309067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77240" y="325526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SwiftUI画面・ViewModelの生成、API通信とCodableモデルの自動生成、定型実装・リファクタ（26.3はエージェント型で複数ファイル変更も）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77240" y="37490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1148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77240" y="427939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XCTest（単体）／XCUITest（UI）、Xcodeのコーディングエージェント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" y="470001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77240" y="486460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ロジックの単体テスト生成、UIテストの雛形、スナップショットテスト、テスト失敗の原因切り分け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45352" y="1298448"/>
            <a:ext cx="5440680" cy="4096512"/>
          </a:xfrm>
          <a:prstGeom prst="roundRect">
            <a:avLst>
              <a:gd name="adj" fmla="val 20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501384" y="1463040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1595628"/>
            <a:ext cx="265176" cy="26517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59752" y="13898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 バックエンド（API Gateway＋Lambda）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519672" y="2011680"/>
            <a:ext cx="489204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519672" y="3639312"/>
            <a:ext cx="489204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519672" y="213969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519672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519672" y="250545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519672" y="26700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Kiro（AWSの仕様駆動エージェントIDE）、Claude Code、Copilot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519672" y="309067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6519672" y="325526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Lambdaハンドラ生成（Node/TS・Python）、API Gatewayのルート＋IaC（SAM/CDK）生成、OpenAPI定義の整備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519672" y="37490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19672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519672" y="41148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519672" y="427939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Jest／pytest（＋AWS SDKモック）、SAM local／LocalStack、k6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519672" y="470001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6519672" y="486460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Lambdaの単体テスト生成、API結合テスト、ローカル実行用イベント生成、負荷テスト雛形、CloudWatchログ解析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02920" y="5486400"/>
            <a:ext cx="11183112" cy="566928"/>
          </a:xfrm>
          <a:prstGeom prst="roundRect">
            <a:avLst>
              <a:gd name="adj" fmla="val 14516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31520" y="555040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660136"/>
            <a:ext cx="219456" cy="219456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325880" y="54864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OpenAPI／スキーマを“共通の契約”に：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同じ定義からAIがLambda側の入出力検証とiOS側のCodableモデルを生成し、フロントとバックの整合を自動で維持します。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502920" y="61264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iOSのビルド・テストはmac（Xcode／シミュレータ）環境が前提です（CI：Xcode Cloud／GitHub Actions[mac runner]）。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RAGは「どこで必要か」を切り分けます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事前のナレッジ基盤（RAG）構築が必要な作業と、不要ですぐ始められる作業を分けて整理します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1572768"/>
            <a:ext cx="512064" cy="512064"/>
          </a:xfrm>
          <a:prstGeom prst="ellipse">
            <a:avLst/>
          </a:prstGeom>
          <a:solidFill>
            <a:srgbClr val="E2F3EA"/>
          </a:solidFill>
          <a:ln w="12700">
            <a:solidFill>
              <a:srgbClr val="BFE3D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2821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55448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7A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RAG不要 ですぐ始められる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77240" y="2121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手元のコード・仕様・フォーマットを渡せば動く（事前準備の工数は基本的に不要）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77240" y="2633472"/>
            <a:ext cx="489204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5528" y="2852928"/>
            <a:ext cx="91440" cy="9144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8408" y="274320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コード生成・リファクタ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既存リポジトリを文脈に渡して生成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5528" y="3328416"/>
            <a:ext cx="91440" cy="9144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8408" y="321868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単体・UIテスト生成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対象コードからテストを自動生成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95528" y="3803904"/>
            <a:ext cx="91440" cy="9144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78408" y="36941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文書ドラフト作成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既存フォーマットを基に下書き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95528" y="4279392"/>
            <a:ext cx="91440" cy="9144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78408" y="416966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IaC・API定義の生成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SAM/CDK・OpenAPIの雛形生成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5528" y="4754880"/>
            <a:ext cx="91440" cy="9144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78408" y="464515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ログ・データ解析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ログ/データを直接読み込み検知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45352" y="137160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501384" y="1572768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72821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14032" y="155448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RAGを整えるほど効く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6519672" y="2121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社内固有の知識に依存。過去チケット・マニュアルを参照できるほど精度・カバー率が向上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519672" y="2633472"/>
            <a:ext cx="489204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537960" y="2852928"/>
            <a:ext cx="91440" cy="91440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720840" y="274320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問い合わせの一次回答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過去チケット・FAQを参照して回答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537960" y="3328416"/>
            <a:ext cx="91440" cy="91440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720840" y="321868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社内ナレッジ検索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規程・マニュアルを横断検索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537960" y="3803904"/>
            <a:ext cx="91440" cy="91440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720840" y="36941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過去事例・既知障害を参照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537960" y="4279392"/>
            <a:ext cx="91440" cy="91440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720840" y="416966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FAQ・ナレッジ自動更新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対応履歴からナレッジ生成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537960" y="4754880"/>
            <a:ext cx="91440" cy="91440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720840" y="464515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仕様・既存資料の調査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散在資料を集約して回答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02920" y="5321808"/>
            <a:ext cx="11183112" cy="786384"/>
          </a:xfrm>
          <a:prstGeom prst="roundRect">
            <a:avLst>
              <a:gd name="adj" fmla="val 11628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0" name="Text 35"/>
          <p:cNvSpPr/>
          <p:nvPr/>
        </p:nvSpPr>
        <p:spPr>
          <a:xfrm>
            <a:off x="868680" y="5321808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進め方：</a:t>
            </a:r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左（RAG不要）は事前準備なしで着手でき、早期に効果を出せます。RAGは右の領域にのみ、必要な分だけ段階的に投資します。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502920" y="619963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前ページの開発・テスト（iOS／AWS）は左側＝RAG不要で進められます。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RAGはどこまで整えると何ができるか（投資の目安）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対象データ範囲を段階的に広げ、整備工数に応じて到達できる精度・効果を示します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C9D4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810512"/>
            <a:ext cx="2697480" cy="329184"/>
          </a:xfrm>
          <a:prstGeom prst="rect">
            <a:avLst/>
          </a:prstGeom>
          <a:solidFill>
            <a:srgbClr val="C9D4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L0  </a:t>
            </a:r>
            <a:pPr algn="l" indent="0" marL="0">
              <a:buNone/>
            </a:pPr>
            <a:r>
              <a:rPr lang="en-US" sz="1400" b="1" dirty="0">
                <a:solidFill>
                  <a:srgbClr val="2B3A4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RAGなし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工数：不要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なし（手元の情報のみ）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5800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コード生成・テスト・文書ドラフトなどはこの段階で実施可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一般的な開発・テスト支援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63824" y="1719072"/>
            <a:ext cx="137160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19272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19272" y="1810512"/>
            <a:ext cx="2697480" cy="329184"/>
          </a:xfrm>
          <a:prstGeom prst="rect">
            <a:avLst/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小さく整備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483864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83864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工数：小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02152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502152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問い合わせの多い1領域（FAQ・主要マニュアル）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502152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502152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頻出の問い合わせに一次回答。まず効果を体感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502152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02152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一次回答の自動化（限定領域）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980176" y="1719072"/>
            <a:ext cx="137160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35624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35624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4F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35624" y="1810512"/>
            <a:ext cx="2697480" cy="329184"/>
          </a:xfrm>
          <a:prstGeom prst="rect">
            <a:avLst/>
          </a:prstGeom>
          <a:solidFill>
            <a:srgbClr val="4F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0216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L2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部門へ拡大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00216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0216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工数：中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318504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318504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部門の規程・手順書・過去チケット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318504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18504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対応範囲が広がり、検索・要約の精度が向上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318504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18504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部門の問い合わせ・ナレッジを概ねカバー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796528" y="1719072"/>
            <a:ext cx="137160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51976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951976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951976" y="1810512"/>
            <a:ext cx="2697480" cy="329184"/>
          </a:xfrm>
          <a:prstGeom prst="rect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16568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L3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全社・最新化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9116568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16568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工数：大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134856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9134856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全社の資料＋自動更新・鮮度管理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9134856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9134856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高いカバー率を内製で維持。属人化を解消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9134856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134856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全社ナレッジを継続活用（自走）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整備工数（投資）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02920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02920" y="5513832"/>
            <a:ext cx="323698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319272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319272" y="5513832"/>
            <a:ext cx="1078992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135624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135624" y="5513832"/>
            <a:ext cx="1888236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951976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951976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02920" y="576986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まずはL1（小さく整備）から。効果を確認しながら必要な範囲だけL2・L3へ広げ、過剰投資を避けます。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まずは「始めやすい領域」から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効果が見えやすく、限定スコープで試せる工程からAI活用を開始します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737360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8928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17007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</a:t>
            </a:r>
            <a:endParaRPr lang="en-US" sz="16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（Jira問い合わせ）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26280" y="177393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26280" y="17739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14400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対象工程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14400" y="2770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ユーザーからの問い合わせ一次対応（社内業務アプリ）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AIが担うこと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1440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チケットの自動分類・優先度付け、過去事例を参照した一次回答ドラフト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14400" y="4023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始めやすい理由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42519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既に運用中で、過去チケットをそのまま学習データに活用できる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1440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14400" y="499262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一次対応工数の削減、対応品質の均一化、属人化の解消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10528" y="1737360"/>
            <a:ext cx="603504" cy="60350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888236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69480" y="17373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開発・テストの一部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6583680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対象工程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583680" y="2770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定型的な実装とテスト（既存の開発フロー内）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58368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AIが担うこと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58368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テストコード・テストケース生成、コードレビュー補助、定型実装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583680" y="4023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始めやすい理由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583680" y="42519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範囲を限定でき、今の開発プロセスに追加するだけで試せる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58368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583680" y="499262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開発・テスト工数の削減、レビュー品質の底上げ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" y="56875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まず①で効果を確認し、②へ広げていくのがおすすめです。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内製化のゴールと、そこへ至るロードマップ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「お客様が自前で巻き取る範囲」をゴールに定め、段階的に到達します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3502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517904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3677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33502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ゴール（内製化の到達点）：</a:t>
            </a:r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運用保守の一次対応と定型的な開発・テストを、お客様の内製チームで完結できる状態へ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82880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小さく始める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4980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980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運用保守の一次受け（Jira）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4980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4980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一次回答の運用・改善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4980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4980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初期構築・型提供（大）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10896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8328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56616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6616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66344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広げる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358444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8444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開発・テストの一部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8444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58444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定型開発・テストをAIで内製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58444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8444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拡張支援・伴走（中）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4360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21792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40080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749808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641908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41908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適用範囲を複数チームへ拡大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41908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1908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AI活用が定着し標準化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41908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41908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必要時のみスポット（小）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877824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052560" y="2395728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10021824" y="2633472"/>
            <a:ext cx="603504" cy="60350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2788920"/>
            <a:ext cx="292608" cy="29260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052560" y="33101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9253728" y="3694176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内製で「一次対応＋定型開発・テスト」を完結</a:t>
            </a:r>
            <a:endParaRPr lang="en-US" sz="10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SIは高度・例外領域に集中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54864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内製でカバーできる範囲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54864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548640" y="5175504"/>
            <a:ext cx="635508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38328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383280" y="5175504"/>
            <a:ext cx="1398118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21792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217920" y="5175504"/>
            <a:ext cx="2033626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05256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05256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48640" y="54132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068019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大（自走）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ご懸念への回答：ナレッジベースは「ゼロから」作りません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既存資産を活かし、小さく始め、型を使うことで、構築にかかるSI費用を抑えます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26187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CF1E3"/>
          </a:solidFill>
          <a:ln w="12700">
            <a:solidFill>
              <a:srgbClr val="EBC7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3990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C7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1790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26187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91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　</a:t>
            </a:r>
            <a:pPr indent="0" marL="0">
              <a:buNone/>
            </a:pPr>
            <a:r>
              <a:rPr lang="en-US" sz="1450" b="1" dirty="0">
                <a:solidFill>
                  <a:srgbClr val="8A5A1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「ナレッジベースをゼロから構築すると、SI費用がかさむのでは？」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48132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7889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既存資産を活用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066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Jiraの過去チケット・既存マニュアル・設計書をAIが読み込みナレッジ化。ゼロからの棚卸しを大幅削減。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338328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6168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7889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2044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小さく始める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62102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問い合わせの多い領域から構築し、精度を確認しながら拡大。最初から全社網羅は目指しません。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26364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4204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型を活用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50138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取り込み・分類・回答生成の構築テンプレートを流用し、設計・実装のSI工数を圧縮します。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914400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12240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78892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28116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内製で拡張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38174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運用しながらお客様自身でナレッジを追加・改善。属人化せず継続SI費を抑制します。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548640" y="52852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822960" y="5285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「一括構築」ではなく「既存活用＋段階構築」で、初期費用とリスクを最小化します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コストと内製化の見通し（イメージ）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大きな初期投資を避け、効果を確認しながら段階的に。外部依存（SI費）は徐々に逓減します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08760" y="2240280"/>
            <a:ext cx="0" cy="269748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1170432" y="21214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70432" y="473659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08760" y="4937760"/>
            <a:ext cx="580644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21408" y="2697480"/>
            <a:ext cx="548640" cy="224028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4114800"/>
            <a:ext cx="548640" cy="82296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950208" y="3520440"/>
            <a:ext cx="548640" cy="141732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3291840"/>
            <a:ext cx="548640" cy="164592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79008" y="4251960"/>
            <a:ext cx="548640" cy="68580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3952" y="2514600"/>
            <a:ext cx="548640" cy="242316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828800" y="1371600"/>
            <a:ext cx="237744" cy="237744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30552" y="13350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弊社(SI)の関与・費用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26280" y="1371600"/>
            <a:ext cx="237744" cy="237744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13350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内製でカバーできる範囲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508760" y="532180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概念イメージです（実際の費用・比率は対象範囲により異なります）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818120" y="1371600"/>
            <a:ext cx="37947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092440" y="1600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コスト構造の変化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092440" y="2084832"/>
            <a:ext cx="32461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10728" y="234086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30184" y="224942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型（テンプレート）活用で立ち上げ費用を圧縮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110728" y="320954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0184" y="311810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中期：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内製化が進み、外部委託費が逓減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10728" y="407822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30184" y="398678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SIは高度・例外領域のみ。固定的なSI費を変動費化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投資は段階的、効果は早期から。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コスト削減という経営課題と両立しながら、内製化を進められます。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次の一歩：スモールスタートのご提案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まずは効果の見えやすい「運用保守の一次受け（Jira）」から、限定スコープで始めませんか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1837944"/>
            <a:ext cx="457200" cy="457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7276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対象業務の選定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AIに任せる業務を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一緒に洗い出し・優先度付け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78224" y="1965960"/>
            <a:ext cx="347472" cy="201168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36592" y="1837944"/>
            <a:ext cx="457200" cy="457200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2180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PoC（限定検証）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2180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一次受け(Jira)などで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小さく効果を検証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27264" y="1965960"/>
            <a:ext cx="347472" cy="201168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85632" y="1837944"/>
            <a:ext cx="457200" cy="457200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856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07084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効果評価・拡大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7084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効果を測定し、次の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適用範囲と内製化計画を策定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9260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22960" y="3182112"/>
            <a:ext cx="493776" cy="493776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3305556"/>
            <a:ext cx="246888" cy="2468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44752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弊社の役割（伴走支援）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005840" y="3749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初期セットアップと型（テンプレート）の提供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ナレッジ整備とAI活用の定着を支援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内製化に向けた運用ルール・体制づくり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217920" y="2926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92240" y="318211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3305556"/>
            <a:ext cx="246888" cy="2468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14032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PoCの想定（例）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6675120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スコープ：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運用保守の一次受け（Jira）を1領域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675120" y="4059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数週間〜（スコープに応じて）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67512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評価指標：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一次回答の自動化率／一次対応時間の削減率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まずは対象業務の洗い出しから、ご一緒させてください。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822960" y="5504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貴社の状況に合わせて、最小限のスコープからご提案します。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AI駆動開発 段階的導入のご提案</dc:title>
  <dc:subject>PptxGenJS Presentation</dc:subject>
  <dc:creator>PptxGenJS</dc:creator>
  <cp:lastModifiedBy>PptxGenJS</cp:lastModifiedBy>
  <cp:revision>1</cp:revision>
  <dcterms:created xsi:type="dcterms:W3CDTF">2026-06-18T22:38:06Z</dcterms:created>
  <dcterms:modified xsi:type="dcterms:W3CDTF">2026-06-18T22:38:06Z</dcterms:modified>
</cp:coreProperties>
</file>