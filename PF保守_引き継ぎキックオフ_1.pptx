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955280" y="-1280160"/>
            <a:ext cx="6035040" cy="6035040"/>
          </a:xfrm>
          <a:prstGeom prst="roundRect">
            <a:avLst>
              <a:gd name="adj" fmla="val 7576"/>
            </a:avLst>
          </a:prstGeom>
          <a:solidFill>
            <a:srgbClr val="1B3559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9326880" y="274320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0B5B8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234440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44752"/>
            <a:ext cx="448056" cy="448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PF保守 引き継ぎ キックオフ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58368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アプリ保守チームへのPF保守業務の引き継ぎ ― FY26 2Q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37673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アプリ保守チームの皆さまと連携し、円滑な引き継ぎを進めてまいります。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4297680"/>
            <a:ext cx="566928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本キックオフの確認事項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48006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引き継ぎ完了の定義（完了条件）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引き継ぎフローと週次会議体の運用ルール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役割分担・スケジュール・7月末の判断事項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本日のアジェンダ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1051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011680" y="18470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引き継ぎ完了の定義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230428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完了条件の事前合意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5544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181051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818120" y="18470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引き継ぎフロー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18120" y="230428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ドキュメント中心の進め方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45643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011680" y="34930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週次会議体の運用ルール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95020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レクチャー会／ドキュメントQA会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2004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345643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818120" y="34930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引き継ぎ範囲と進捗管理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818120" y="395020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別紙一覧（範囲）とWBS（進捗）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10235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2011680" y="51389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スケジュールと7月末の判断事項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11680" y="55961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2Q内完了／3Q要否は顧客判断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846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5102352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818120" y="513892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役割分担と今後のアクション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18120" y="559612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担当・期限の明確化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／ 完了の定義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引き継ぎ完了の定義（完了条件）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認識の齟齬や後戻りを防ぐため、完了条件をあらかじめ明確化します。PF保守側で完了させる事項と、確認・クローズの進め方に分けて整理し、関係者間で合意のうえ運用します。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0096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5340096" cy="594360"/>
          </a:xfrm>
          <a:prstGeom prst="roundRect">
            <a:avLst>
              <a:gd name="adj" fmla="val 15385"/>
            </a:avLst>
          </a:prstGeom>
          <a:solidFill>
            <a:srgbClr val="0B5B8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50008"/>
            <a:ext cx="5340096" cy="301752"/>
          </a:xfrm>
          <a:prstGeom prst="rect">
            <a:avLst/>
          </a:prstGeom>
          <a:solidFill>
            <a:srgbClr val="0B5B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700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PF保守側で完了させる事項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46085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別紙一覧の全ドキュメントの提供完了（既存分の一括共有＋不足分の作成・共有）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レクチャー会（予定回数）の実施完了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ドキュメントQA会での質問対応の完了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2057400"/>
            <a:ext cx="5340096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08776" y="2057400"/>
            <a:ext cx="5340096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08776" y="2350008"/>
            <a:ext cx="5340096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28816" y="2057400"/>
            <a:ext cx="4700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確認・クローズの進め方（合意のうえ運用）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74536" y="2834640"/>
            <a:ext cx="4608576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ドキュメント確認：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共有後 〔　〕営業日以内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に確認・質問がない場合は確認済みとして次へ進める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QA論点のクローズ：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アプリ保守チームでの解消、または顧客IT部門（旧担当）の認識・了解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をもってクローズ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障害対応の伴走：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9月に障害が発生した場合に実施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（※未発生もあり得るため必須とせず、手順の机上確認で代替）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02920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引き継ぎ完了日：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2Q末（9月末）。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上記の完了条件は、関係者間で事前に合意し、共通認識のもとで進めます。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引き継ぎフロー（ドキュメント中心）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既存ドキュメント（全体の約60%）を一括共有し読み込み。残り（約40%）は作成次第 都度共有し、確認・QAで定着。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57984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042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20240"/>
            <a:ext cx="9692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起点：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既存ドキュメント（約60%）を一括共有 → アプリ保守チームが読み込み開始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52160" y="27980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6112" y="3502152"/>
            <a:ext cx="512064" cy="512064"/>
          </a:xfrm>
          <a:prstGeom prst="ellipse">
            <a:avLst/>
          </a:prstGeom>
          <a:solidFill>
            <a:srgbClr val="0B5B82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3502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34472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残り約40%を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作成・都度共有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14400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PF保守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71800" y="3246120"/>
            <a:ext cx="5577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3483864" y="3246120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39896" y="3502152"/>
            <a:ext cx="512064" cy="512064"/>
          </a:xfrm>
          <a:prstGeom prst="ellipse">
            <a:avLst/>
          </a:prstGeom>
          <a:solidFill>
            <a:srgbClr val="0B5B82"/>
          </a:solidFill>
          <a:ln/>
        </p:spPr>
      </p:sp>
      <p:sp>
        <p:nvSpPr>
          <p:cNvPr id="18" name="Text 15"/>
          <p:cNvSpPr/>
          <p:nvPr/>
        </p:nvSpPr>
        <p:spPr>
          <a:xfrm>
            <a:off x="3739896" y="3502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352544" y="34472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内容を確認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758184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アプリ保守チーム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15584" y="3246120"/>
            <a:ext cx="5577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6327648" y="3246120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83680" y="3502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3502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196328" y="34472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QA会で質問・解消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レクチャー会で補完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601968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両チーム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659368" y="3246120"/>
            <a:ext cx="5577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9171432" y="3246120"/>
            <a:ext cx="2377440" cy="1481328"/>
          </a:xfrm>
          <a:prstGeom prst="roundRect">
            <a:avLst>
              <a:gd name="adj" fmla="val 617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427464" y="3502152"/>
            <a:ext cx="512064" cy="51206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7"/>
          <p:cNvSpPr/>
          <p:nvPr/>
        </p:nvSpPr>
        <p:spPr>
          <a:xfrm>
            <a:off x="9427464" y="35021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040112" y="3447288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論点を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ドキュメントへ反映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9445752" y="4233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両チーム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</p:spPr>
      </p:sp>
      <p:sp>
        <p:nvSpPr>
          <p:cNvPr id="34" name="Text 31"/>
          <p:cNvSpPr/>
          <p:nvPr/>
        </p:nvSpPr>
        <p:spPr>
          <a:xfrm>
            <a:off x="1005840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反復：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残りドキュメントの共有が続く間、②確認 → ③QA・レクチャー → ④反映 を繰り返す。レクチャー会・ドキュメントQA会はいずれも毎週開催（運用ルールは次ページ）。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OPERATION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週次会議体の運用ルール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「説明」と「質問」を分離し、2つの会を毎週運用。〔　〕は確定後に記入。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57116"/>
                <a:gridCol w="435711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レクチャー会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B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ドキュメントQA会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重要点・勘所のPF保守側からの説明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ドキュメント不明点の質疑応答による解消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形式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Teams会議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Teams会議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日時（毎週）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　曜・　：　〜　：　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　曜・　：　〜　：　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事前準備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PF保守：説明範囲・資料・対象ドキュメントの用意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アプリ保守：質問リストの作成・事前共有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会の後の作業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説明済み範囲の別紙一覧への反映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回答・論点のドキュメントへの反映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運用方針：</a:t>
            </a:r>
            <a:pPr indent="0" marL="0">
              <a:buNone/>
            </a:pPr>
            <a:r>
              <a:rPr lang="en-US" sz="125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質問の翌週持ち越しの回避。QA会の論点はドキュメントへ反映し、口頭説明を記録として残す。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引き継ぎ範囲と進捗管理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対象・必要ドキュメントは顧客と合意済み（別紙一覧が正本）。進捗は別途作成のWBSで管理。いずれも別資料を正とし、本資料では再掲しません。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009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340096" cy="594360"/>
          </a:xfrm>
          <a:prstGeom prst="roundRect">
            <a:avLst>
              <a:gd name="adj" fmla="val 15385"/>
            </a:avLst>
          </a:prstGeom>
          <a:solidFill>
            <a:srgbClr val="0B5B8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12848"/>
            <a:ext cx="5340096" cy="301752"/>
          </a:xfrm>
          <a:prstGeom prst="rect">
            <a:avLst/>
          </a:prstGeom>
          <a:solidFill>
            <a:srgbClr val="0B5B8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20240"/>
            <a:ext cx="4700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引き継ぎ範囲（正本：別紙一覧）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456285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対象業務・必要ドキュメントは顧客と合意済み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別紙「引き継ぎ対象・ドキュメント一覧」を正本とする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本資料では再掲しない（範囲の差分も一覧で管理）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08776" y="1920240"/>
            <a:ext cx="5340096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08776" y="1920240"/>
            <a:ext cx="5340096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08776" y="2212848"/>
            <a:ext cx="5340096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28816" y="1920240"/>
            <a:ext cx="47000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進捗管理（WBS・別途作成済み）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20256" y="2697480"/>
            <a:ext cx="4517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ドキュメントごとにタスク・担当・状況・期日をWBSで管理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0256" y="3200400"/>
            <a:ext cx="4517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状況区分（例）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0256" y="34930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作成状況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6096" y="3493008"/>
            <a:ext cx="603504" cy="329184"/>
          </a:xfrm>
          <a:prstGeom prst="roundRect">
            <a:avLst>
              <a:gd name="adj" fmla="val 22222"/>
            </a:avLst>
          </a:prstGeom>
          <a:solidFill>
            <a:srgbClr val="EAF1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349300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39328" y="3493008"/>
            <a:ext cx="1042416" cy="329184"/>
          </a:xfrm>
          <a:prstGeom prst="roundRect">
            <a:avLst>
              <a:gd name="adj" fmla="val 22222"/>
            </a:avLst>
          </a:prstGeom>
          <a:solidFill>
            <a:srgbClr val="EAF1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493008"/>
            <a:ext cx="10424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新規作成中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91472" y="3493008"/>
            <a:ext cx="896112" cy="329184"/>
          </a:xfrm>
          <a:prstGeom prst="roundRect">
            <a:avLst>
              <a:gd name="adj" fmla="val 22222"/>
            </a:avLst>
          </a:prstGeom>
          <a:solidFill>
            <a:srgbClr val="EAF1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91472" y="3493008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共有済み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20256" y="39502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確認状況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26096" y="395020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EAF1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6096" y="395020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未着手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85632" y="3950208"/>
            <a:ext cx="749808" cy="329184"/>
          </a:xfrm>
          <a:prstGeom prst="roundRect">
            <a:avLst>
              <a:gd name="adj" fmla="val 22222"/>
            </a:avLst>
          </a:prstGeom>
          <a:solidFill>
            <a:srgbClr val="EAF1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3950208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確認中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345168" y="3950208"/>
            <a:ext cx="896112" cy="329184"/>
          </a:xfrm>
          <a:prstGeom prst="roundRect">
            <a:avLst>
              <a:gd name="adj" fmla="val 22222"/>
            </a:avLst>
          </a:prstGeom>
          <a:solidFill>
            <a:srgbClr val="EAF1F6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45168" y="3950208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確認完了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0256" y="4480560"/>
            <a:ext cx="4517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毎週のドキュメントQA会でWBSを更新し、両チームで共有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目的：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WBSにより残作業と完了見通しを常時可視化し、両チームで進捗を共有しながら進行。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スケジュール（FY26 2Q）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8月末〜9月上旬に資料共有を完了。9月は発生した保守障害対応を伴走支援。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2606040"/>
            <a:ext cx="9784080" cy="0"/>
          </a:xfrm>
          <a:prstGeom prst="line">
            <a:avLst/>
          </a:prstGeom>
          <a:noFill/>
          <a:ln w="381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73096" y="2459736"/>
            <a:ext cx="292608" cy="292608"/>
          </a:xfrm>
          <a:prstGeom prst="ellipse">
            <a:avLst/>
          </a:prstGeom>
          <a:solidFill>
            <a:srgbClr val="0B5B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22120" y="1764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B8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7月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348740" y="2990088"/>
            <a:ext cx="294132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77340" y="3063240"/>
            <a:ext cx="2484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キックオフ／既存ドキュメント（約60%）の一括共有・読み込み／不足分の作成開始／週次会議体の開始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34456" y="2459736"/>
            <a:ext cx="292608" cy="29260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64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8月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610100" y="2990088"/>
            <a:ext cx="294132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38700" y="3063240"/>
            <a:ext cx="2484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不足ドキュメントの作成・都度共有／レクチャー会・QA会の毎週開催／月内の共有完了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95816" y="2459736"/>
            <a:ext cx="292608" cy="29260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4840" y="176479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9月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71460" y="2990088"/>
            <a:ext cx="2941320" cy="1371600"/>
          </a:xfrm>
          <a:prstGeom prst="roundRect">
            <a:avLst>
              <a:gd name="adj" fmla="val 5333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00060" y="3063240"/>
            <a:ext cx="2484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資料共有の完了（〜9月上旬）／発生した保守障害対応の伴走支援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12233F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2064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89888" y="5084064"/>
            <a:ext cx="2721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7月末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89888" y="5504688"/>
            <a:ext cx="2676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3Q以降の対応要否を顧客にご判断いただく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76344" y="5138928"/>
            <a:ext cx="0" cy="86868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664" y="512064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026152" y="5084064"/>
            <a:ext cx="2721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8月末〜9月上旬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026152" y="5504688"/>
            <a:ext cx="2676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資料共有の完了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912608" y="5138928"/>
            <a:ext cx="0" cy="86868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928" y="512064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62416" y="5084064"/>
            <a:ext cx="2721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9月末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8662416" y="5504688"/>
            <a:ext cx="2676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D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引き継ぎ完了（FY26 2Q末）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27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7月末の判断事項（顧客判断）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960120" cy="960120"/>
          </a:xfrm>
          <a:prstGeom prst="ellipse">
            <a:avLst/>
          </a:prstGeom>
          <a:solidFill>
            <a:srgbClr val="E9A23B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19072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ご判断事項：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3Q以降の引き継ぎ作業の継続可否（期限：7月末）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" y="2971800"/>
            <a:ext cx="10863072" cy="868680"/>
          </a:xfrm>
          <a:prstGeom prst="roundRect">
            <a:avLst>
              <a:gd name="adj" fmla="val 8421"/>
            </a:avLst>
          </a:prstGeom>
          <a:solidFill>
            <a:srgbClr val="1B3559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97180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理由：　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3Q以降の体制・計画を確定するため、早期のご判断をお願いいたします。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4069080"/>
            <a:ext cx="5340096" cy="2011680"/>
          </a:xfrm>
          <a:prstGeom prst="roundRect">
            <a:avLst>
              <a:gd name="adj" fmla="val 4545"/>
            </a:avLst>
          </a:prstGeom>
          <a:solidFill>
            <a:srgbClr val="1B3559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434340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継続しない場合（基本線）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97280" y="4892040"/>
            <a:ext cx="45628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2Q内（9月末）で引き継ぎ完了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9月の障害伴走をもって終了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3Q以降の追加対応なし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08776" y="4069080"/>
            <a:ext cx="5340096" cy="2011680"/>
          </a:xfrm>
          <a:prstGeom prst="roundRect">
            <a:avLst>
              <a:gd name="adj" fmla="val 4545"/>
            </a:avLst>
          </a:prstGeom>
          <a:solidFill>
            <a:srgbClr val="1B3559"/>
          </a:solidFill>
          <a:ln/>
          <a:effectLst>
            <a:outerShdw sx="100000" sy="100000" kx="0" ky="0" algn="bl" rotWithShape="0" blurRad="114300" dist="38100" dir="5400000">
              <a:srgbClr val="0B254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574536" y="4343400"/>
            <a:ext cx="4608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継続する場合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20256" y="4892040"/>
            <a:ext cx="45628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3Q以降のスケジュールの別途設定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対応範囲・体制の再調整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費用・契約面の調整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役割分担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◎＝主担当　○＝参加・実施　−＝対象外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3502152"/>
                <a:gridCol w="2468880"/>
                <a:gridCol w="265176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PF保守（自社）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アプリ保守チーム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顧客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ドキュメントの作成・整備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作成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既存ドキュメントの確認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説明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読込・質問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レクチャー会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説明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参加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ドキュメントQA会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回答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質問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認識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障害対応の伴走（9月）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伴走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対応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3Q以降の要否判断（7月末）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依頼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判断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QA論点の最終クローズは、顧客IT部門（旧担当）の認識・了解でも可。担当窓口（氏名・連絡先）はキックオフ後に確定し一覧へ追記。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今後のアクションと担当・期限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27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曜日・時刻、担当窓口、共有方法などの〔　〕はキックオフ時または直後に確定。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6702552"/>
                <a:gridCol w="219456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アクション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担当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別紙一覧（範囲）とWBS（進捗管理）の最新版の共有・目線合わせ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PF保守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キックオフ直後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既存ドキュメント（約60%）の一括共有・読み込み開始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両チーム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キックオフ直後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レクチャー会・QA会の枠の確定（曜日・時刻・所要時間）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両チーム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　／　まで〕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不足ドキュメントの作成・都度共有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PF保守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随時（〜8月末）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ドキュメント共有方法・保管場所の決定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両チーム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〔　／　まで〕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3Q以降の引き継ぎ継続可否の判断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顧客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7月末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不明点・調整事項は、毎週のドキュメントQA会／レクチャー会で随時すり合わせ。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PF保守 引き継ぎ キックオフ</dc:title>
  <dc:subject>PptxGenJS Presentation</dc:subject>
  <dc:creator>PF保守チーム</dc:creator>
  <cp:lastModifiedBy>PF保守チーム</cp:lastModifiedBy>
  <cp:revision>1</cp:revision>
  <dcterms:created xsi:type="dcterms:W3CDTF">2026-06-30T21:34:22Z</dcterms:created>
  <dcterms:modified xsi:type="dcterms:W3CDTF">2026-06-30T21:34:22Z</dcterms:modified>
</cp:coreProperties>
</file>