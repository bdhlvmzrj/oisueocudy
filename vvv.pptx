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920240" cy="19202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1234440"/>
            <a:ext cx="1097280" cy="10972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554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417320"/>
            <a:ext cx="3977640" cy="420624"/>
          </a:xfrm>
          <a:prstGeom prst="roundRect">
            <a:avLst>
              <a:gd name="adj" fmla="val 50000"/>
            </a:avLst>
          </a:prstGeom>
          <a:ln w="12700">
            <a:solidFill>
              <a:srgbClr val="8FC6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4173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 導入のご提案（第2回）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" y="21488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コストを抑え、内製化を進める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 段階的導入のご提案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現在の開発・運用のうち「AIに任せられる作業」から切り出し、お客様自身で回せる範囲（内製）を計画的に広げます。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2026年6月　｜　ご提案資料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前回のご提案を踏まえて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いただいたご反応・ご懸念を整理し、それぞれに対する今回の打ち手を明確にします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88720" y="11704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コスト最適化が重要な経営テーマと伺っており、その前提でご提案します。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06324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6324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ご関心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638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0467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Jiraでの問い合わせ対応にご関心。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既に運用中で効果を出しやすい。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0467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一次受けから着手し、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早期に効果を実感いただきます。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34340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8114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1051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85800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5A64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5800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継続検討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8114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9943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9943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全面適用は時期尚早だが、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自動化の余地はある。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9943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9943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工程を切り出し、置き換え可能な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作業から段階的に適用します。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13816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37590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81051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0684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065276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91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65276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37590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39419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839419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ナレッジベース構築にかかる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SI費用にご懸念。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839419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839419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既存資産＋テンプレート活用で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SI費を圧縮します（後述）。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548640" y="4315968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14400" y="46908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28032"/>
            <a:ext cx="274320" cy="27432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914400" y="4690872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828032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691640" y="44988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本日のご提案テーマ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1691640" y="482803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大きな投資ではなく、段階的・部分適用で「コストを抑えながら内製化を進める」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ご提案の基本方針：一気にではなく、段階的に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全工程を一度に置き換えるのではなく、作業を切り出してAIに任せ、内製範囲を計画的に広げます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64792"/>
            <a:ext cx="475488" cy="475488"/>
          </a:xfrm>
          <a:prstGeom prst="ellipse">
            <a:avLst/>
          </a:prstGeom>
          <a:solidFill>
            <a:srgbClr val="FBEEE3"/>
          </a:solidFill>
          <a:ln w="12700">
            <a:solidFill>
              <a:srgbClr val="F0D6B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88366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783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6A2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一気に全置き換え（難しい）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005840" y="2423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初期コスト・リスクが大きく、投資判断が重い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効果が出る前に頓挫し、現場が混乱しやすい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業務知識の整理が追いつかず形骸化する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AF6FC"/>
          </a:solidFill>
          <a:ln w="15875">
            <a:solidFill>
              <a:srgbClr val="0094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92240" y="1764792"/>
            <a:ext cx="475488" cy="475488"/>
          </a:xfrm>
          <a:prstGeom prst="ellipse">
            <a:avLst/>
          </a:prstGeom>
          <a:solidFill>
            <a:srgbClr val="E2F3EA"/>
          </a:solidFill>
          <a:ln w="12700">
            <a:solidFill>
              <a:srgbClr val="BFE3D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88366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1783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段階的に部分適用（おすすめ）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675120" y="2423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小さく始め、低リスク・低コストで検証できる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効果を確認しながら適用範囲を広げられる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SI依存を減らし、内製でできる範囲が増える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9CCBE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0467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24358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切り出す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307238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2900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5FAFD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59359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59359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03250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586130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1792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38251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8251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82142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範囲を拡げる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65022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00684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17143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17143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961034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内製化（自走）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640080" y="5074920"/>
            <a:ext cx="3108960" cy="384048"/>
          </a:xfrm>
          <a:prstGeom prst="roundRect">
            <a:avLst>
              <a:gd name="adj" fmla="val 50000"/>
            </a:avLst>
          </a:prstGeom>
          <a:ln w="12700">
            <a:solidFill>
              <a:srgbClr val="0068B7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SIへの依存：減少 ↓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275320" y="5074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275320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お客様の内製範囲：拡大 ↑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40080" y="56509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本日は「どの作業をAIに任せられるか（次ページ）」と「どこから始め、どこをゴールにするか」を具体化します。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工程別：AIエージェントに置き換えられる作業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要件定義から保守・運用まで。色が濃いほどAIに任せられる作業です（判断・現場対話は人が担当）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置き換え可能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82396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8972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一部支援（AI補助）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78992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人が主導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9913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各工場担当者へのヒアリング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関連資料・過去要件の収集整理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8404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ヒアリング結果の要件整理・文書化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抜け漏れ・曖昧点の洗い出し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30428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0428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937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30428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39572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方式・アーキテクチャ設計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30428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9572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既存仕様の調査・整理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30428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9572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設計書のドラフト作成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30428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39572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設計レビュー・整合性チェック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22452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2452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3961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22452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1596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定型コードの生成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22452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1596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単体テストの実装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22452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1596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コードレビュー補助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22452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1596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複雑なロジックの作り込み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14476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4476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95985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14476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23620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テストケース・コード生成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14476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3620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テスト実行・回帰テスト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14476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3620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テスト結果の集計・報告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14476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623620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受け入れ基準の判断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806500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06500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移行・リリース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988009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06500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15644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手順書・リリースノート作成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806500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15644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移行データの整合チェック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806500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15644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切り戻し手順の整備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806500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815644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リリース可否の最終判断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998524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98524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保守・運用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998524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07668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問い合わせの一次受け・回答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998524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007668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FAQ・ナレッジの自動更新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998524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07668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障害の一次切り分け・ログ解析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998524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7" name="Text 74"/>
          <p:cNvSpPr/>
          <p:nvPr/>
        </p:nvSpPr>
        <p:spPr>
          <a:xfrm>
            <a:off x="1007668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重大障害の最終対応・判断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384048" y="5623560"/>
            <a:ext cx="11411712" cy="713232"/>
          </a:xfrm>
          <a:prstGeom prst="roundRect">
            <a:avLst>
              <a:gd name="adj" fmla="val 11538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0080" y="562356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「判断」と「現場との対話」は人が担い、「整理・生成・定型処理」はAIへ。　</a:t>
            </a:r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例）要件は人がヒアリングし、その整理・文書化はAIが担当。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各作業へのAI導入方法（5つのパターン）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工程マップ（前ページ）の作業ごとに、主に次の5つの方法でAIを導入します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1732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AI導入方法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50208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対象アイテム（例）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62672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導入の進め方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481328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1627632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176022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14813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文書ドラフト生成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794760" y="1627632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50208" y="148132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要件の整理・文書化／設計書ドラフト／手順書作成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507224" y="1627632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62672" y="148132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既存フォーマットを基にAIがドラフト生成 → 人がレビュー・確定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414016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2560320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692908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241401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ナレッジ検索・一次回答（RAG）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794760" y="2560320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950208" y="241401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問い合わせ一次回答／FAQ更新／資料・仕様の調査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507224" y="2560320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662672" y="241401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過去チケット・マニュアルを検索基盤に取り込み、質問に回答・要約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3346704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7240" y="3493008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625596"/>
            <a:ext cx="265176" cy="26517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33467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コード生成・レビュー補助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794760" y="3493008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950208" y="334670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定型コード生成／単体テスト実装／レビュー補助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507224" y="3493008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662672" y="334670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Editor・エージェントを開発環境に組み込み、規約に沿って生成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48640" y="4279392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77240" y="4425696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4558284"/>
            <a:ext cx="265176" cy="26517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17320" y="42793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テスト自動化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3794760" y="4425696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950208" y="42793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テストケース生成／回帰テスト／結果集計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7507224" y="4425696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662672" y="427939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仕様からテストを生成し、CI/CDに組み込んで自動実行・集計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777240" y="5358384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5490972"/>
            <a:ext cx="265176" cy="26517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417320" y="5212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 </a:t>
            </a:r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ログ・データ解析（検知）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3794760" y="5358384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3950208" y="5212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障害の一次切り分け／移行データ整合／整合性チェック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7507224" y="5358384"/>
            <a:ext cx="0" cy="530352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662672" y="52120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ログ・データをAIが解析し、異常・差分・矛盾を検出して提示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548640" y="618134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まずはRAGによる「一次回答」から着手し、効果を見ながら他の方法へ広げるのがおすすめです。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iOS＋AWSにおけるAI活用：開発とテスト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フロント（iOSアプリ）とバックエンド（API Gateway＋Lambda）それぞれの開発・テストに、AIをこう使います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5440680" cy="4096512"/>
          </a:xfrm>
          <a:prstGeom prst="roundRect">
            <a:avLst>
              <a:gd name="adj" fmla="val 20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1463040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595628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3898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iOSアプリ（Swift / SwiftUI）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7240" y="2011680"/>
            <a:ext cx="489204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3639312"/>
            <a:ext cx="489204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213969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77240" y="250545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77240" y="26700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Xcode 26 Coding Intelligence（Claude/ChatGPT内蔵）、Claude Code、Cursor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" y="309067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AIがやること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77240" y="3255264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SwiftUI画面・ViewModelの生成、API通信とCodableモデルの自動生成、定型実装・リファクタ（26.3はエージェント型で複数ファイル変更も）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77240" y="37490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411480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77240" y="427939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XCTest（単体）／XCUITest（UI）、Xcodeのコーディングエージェント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77240" y="470001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AIがやること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77240" y="486460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ロジックの単体テスト生成、UIテストの雛形、スナップショットテスト、テスト失敗の原因切り分け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245352" y="1298448"/>
            <a:ext cx="5440680" cy="4096512"/>
          </a:xfrm>
          <a:prstGeom prst="roundRect">
            <a:avLst>
              <a:gd name="adj" fmla="val 20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501384" y="1463040"/>
            <a:ext cx="530352" cy="530352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1595628"/>
            <a:ext cx="265176" cy="26517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59752" y="13898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 バックエンド（API Gateway＋Lambda）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519672" y="2011680"/>
            <a:ext cx="489204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519672" y="3639312"/>
            <a:ext cx="489204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519672" y="213969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519672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519672" y="250545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519672" y="2670048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Kiro（AWSの仕様駆動エージェントIDE）、Claude Code、Copilot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519672" y="309067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AIがやること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6519672" y="3255264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Lambdaハンドラ生成（Node/TS・Python）、API Gatewayのルート＋IaC（SAM/CDK）生成、OpenAPI定義の整備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519672" y="37490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519672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519672" y="411480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519672" y="4279392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Jest／pytest（＋AWS SDKモック）、SAM local／LocalStack、k6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519672" y="470001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AIがやること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6519672" y="4864608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Lambdaの単体テスト生成、API結合テスト、ローカル実行用イベント生成、負荷テスト雛形、CloudWatchログ解析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02920" y="5486400"/>
            <a:ext cx="11183112" cy="566928"/>
          </a:xfrm>
          <a:prstGeom prst="roundRect">
            <a:avLst>
              <a:gd name="adj" fmla="val 14516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31520" y="555040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660136"/>
            <a:ext cx="219456" cy="219456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325880" y="54864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OpenAPI／スキーマを“共通の契約”に：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同じ定義からAIがLambda側の入出力検証とiOS側のCodableモデルを生成し、フロントとバックの整合を自動で維持します。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502920" y="61264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iOSのビルド・テストはmac（Xcode／シミュレータ）環境が前提です（CI：Xcode Cloud／GitHub Actions[mac runner]）。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工程別：RAGが必要な作業／不要な作業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事前のナレッジ基盤（RAG）が要る作業と、手元の情報だけで始められる作業を工程ごとに色分けします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0" y="1252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要RAG（社内知識）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64692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12680" y="1252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RAG不要（手元の情報でOK）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9913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要件の整理・文書化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関連資料・過去要件の収集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既存仕様の参照・調査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8404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抜け漏れ・曖昧点の確認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30428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0428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1937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30428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39572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設計書のドラフト作成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30428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39572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方式・アーキ設計の補助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30428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9572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既存設計・規約の参照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30428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9572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整合性・影響範囲の確認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22452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2452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03961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2452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31596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定型コードの生成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22452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31596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単体テストの実装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22452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31596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コードレビュー補助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22452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1596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社内ライブラリ・規約の参照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14476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4476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95985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14476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623620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テストケース・コード生成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614476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23620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テスト実行・回帰テスト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14476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623620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結果の集計・報告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14476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3620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過去不具合・既知事象の参照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806500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06500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移行・リリース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9880092" y="1874520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06500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815644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手順書・リリースノート作成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806500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815644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切り戻し手順の整備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806500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815644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移行データの整合チェック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806500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15644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過去リリース・障害履歴の参照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9985248" y="1737360"/>
            <a:ext cx="1810512" cy="402336"/>
          </a:xfrm>
          <a:prstGeom prst="roundRect">
            <a:avLst>
              <a:gd name="adj" fmla="val 1363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985248" y="173736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保守・運用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9985248" y="2212848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076688" y="2212848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問い合わせの一次回答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9985248" y="3054096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076688" y="3054096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FAQ・ナレッジの自動更新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9985248" y="3895344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0076688" y="3895344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障害の一次切り分け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9985248" y="4736592"/>
            <a:ext cx="181051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5" name="Text 72"/>
          <p:cNvSpPr/>
          <p:nvPr/>
        </p:nvSpPr>
        <p:spPr>
          <a:xfrm>
            <a:off x="10076688" y="4736592"/>
            <a:ext cx="1627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ログ・データの解析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384048" y="5623560"/>
            <a:ext cx="11411712" cy="713232"/>
          </a:xfrm>
          <a:prstGeom prst="roundRect">
            <a:avLst>
              <a:gd name="adj" fmla="val 11538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40080" y="562356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上流〜テストの多くはRAG不要で着手可。RAGが要るのは主に保守・運用（問い合わせ・障害）と、社内資産を“参照”する作業のみです。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RAGはどこまで整えると何ができるか（投資の目安）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対象データ範囲を段階的に広げ、整備工数に応じて到達できる精度・効果を示します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481328"/>
            <a:ext cx="2697480" cy="36118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481328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C9D4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810512"/>
            <a:ext cx="2697480" cy="329184"/>
          </a:xfrm>
          <a:prstGeom prst="rect">
            <a:avLst/>
          </a:prstGeom>
          <a:solidFill>
            <a:srgbClr val="C9D4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1481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E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L0  </a:t>
            </a:r>
            <a:pPr algn="l" indent="0" marL="0">
              <a:buNone/>
            </a:pPr>
            <a:r>
              <a:rPr lang="en-US" sz="1400" b="1" dirty="0">
                <a:solidFill>
                  <a:srgbClr val="2B3A4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RAGなし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7512" y="22677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工数：不要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2688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85800" y="2852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なし（手元の情報のみ）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5800" y="36758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コード生成・テスト・文書ドラフトなどはこの段階で実施可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4443984"/>
            <a:ext cx="233172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498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到達：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一般的な開発・テスト支援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63824" y="1719072"/>
            <a:ext cx="137160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1481328"/>
            <a:ext cx="2697480" cy="36118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19272" y="1481328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9CCB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19272" y="1810512"/>
            <a:ext cx="2697480" cy="329184"/>
          </a:xfrm>
          <a:prstGeom prst="rect">
            <a:avLst/>
          </a:prstGeom>
          <a:solidFill>
            <a:srgbClr val="9CCB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3864" y="1481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E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小さく整備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483864" y="22677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83864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工数：小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02152" y="2688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502152" y="2852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問い合わせの多い1領域（FAQ・主要マニュアル）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502152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502152" y="36758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頻出の問い合わせに一次回答。まず効果を体感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502152" y="4443984"/>
            <a:ext cx="233172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02152" y="4498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到達：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一次回答の自動化（限定領域）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980176" y="1719072"/>
            <a:ext cx="137160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35624" y="1481328"/>
            <a:ext cx="2697480" cy="36118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35624" y="1481328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4F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35624" y="1810512"/>
            <a:ext cx="2697480" cy="329184"/>
          </a:xfrm>
          <a:prstGeom prst="rect">
            <a:avLst/>
          </a:prstGeom>
          <a:solidFill>
            <a:srgbClr val="4F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0216" y="1481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5E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L2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部門へ拡大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300216" y="22677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00216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工数：中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318504" y="2688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318504" y="2852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部門の規程・手順書・過去チケット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318504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318504" y="36758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対応範囲が広がり、検索・要約の精度が向上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318504" y="4443984"/>
            <a:ext cx="233172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18504" y="4498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到達：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部門の問い合わせ・ナレッジを概ねカバー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796528" y="1719072"/>
            <a:ext cx="137160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951976" y="1481328"/>
            <a:ext cx="2697480" cy="36118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951976" y="1481328"/>
            <a:ext cx="2697480" cy="658368"/>
          </a:xfrm>
          <a:prstGeom prst="roundRect">
            <a:avLst>
              <a:gd name="adj" fmla="val 125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951976" y="1810512"/>
            <a:ext cx="2697480" cy="329184"/>
          </a:xfrm>
          <a:prstGeom prst="rect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16568" y="1481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FE9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L3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全社・最新化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9116568" y="22677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16568" y="22677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工数：大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134856" y="268833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対象データ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9134856" y="2852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全社の資料＋自動更新・鮮度管理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9134856" y="35112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9134856" y="367588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高いカバー率を内製で維持。属人化を解消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9134856" y="4443984"/>
            <a:ext cx="2331720" cy="0"/>
          </a:xfrm>
          <a:prstGeom prst="line">
            <a:avLst/>
          </a:prstGeom>
          <a:noFill/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134856" y="4498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到達：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全社ナレッジを継続活用（自走）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502920" y="5239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整備工数（投資）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02920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02920" y="5513832"/>
            <a:ext cx="323698" cy="164592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319272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319272" y="5513832"/>
            <a:ext cx="1078992" cy="164592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135624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135624" y="5513832"/>
            <a:ext cx="1888236" cy="164592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951976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951976" y="5513832"/>
            <a:ext cx="2697480" cy="164592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02920" y="576986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まずはL1（小さく整備）から。効果を確認しながら必要な範囲だけL2・L3へ広げ、過剰投資を避けます。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機能追加・運用保守に効くAI活用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新規開発よりも、既存システムへの機能追加と運用保守でこそAIの効果が出ます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298448"/>
            <a:ext cx="11183112" cy="676656"/>
          </a:xfrm>
          <a:prstGeom prst="roundRect">
            <a:avLst>
              <a:gd name="adj" fmla="val 10811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4173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2704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29844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なぜ効くか：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機能追加・保守は「既存コード・仕様・チケット」という“手元の素材”が揃っており、AIが文脈を掴みやすい＝低リスクで効果を出しやすい領域です。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2139696"/>
            <a:ext cx="3593592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22376" y="2340864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4688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44168" y="2322576"/>
            <a:ext cx="1764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影響調査・既存把握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163824" y="23774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163824" y="23774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RAG不要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22376" y="2926080"/>
            <a:ext cx="315468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0664" y="3035808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改修時の影響範囲をAIが調査。既存コード・仕様を読み解き、関連箇所を提示。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297680" y="2139696"/>
            <a:ext cx="3593592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17136" y="2340864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46888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38928" y="2322576"/>
            <a:ext cx="1764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機能追加の実装支援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958584" y="23774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958584" y="23774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RAG不要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17136" y="2926080"/>
            <a:ext cx="315468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35424" y="3035808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既存のコード規約に沿って差分実装・リファクタ。iOS/Lambda双方に対応。</a:t>
            </a:r>
            <a:endParaRPr lang="en-US" sz="1030" dirty="0"/>
          </a:p>
        </p:txBody>
      </p:sp>
      <p:sp>
        <p:nvSpPr>
          <p:cNvPr id="27" name="Shape 21"/>
          <p:cNvSpPr/>
          <p:nvPr/>
        </p:nvSpPr>
        <p:spPr>
          <a:xfrm>
            <a:off x="8092440" y="2139696"/>
            <a:ext cx="3593592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311896" y="2340864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46888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933688" y="2322576"/>
            <a:ext cx="1764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回帰テストの自動化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10753344" y="23774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753344" y="2377440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RAG不要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311896" y="2926080"/>
            <a:ext cx="315468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330184" y="3035808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改修箇所のテストを自動生成・実行。デグレを早期に検知し品質を担保。</a:t>
            </a:r>
            <a:endParaRPr lang="en-US" sz="1030" dirty="0"/>
          </a:p>
        </p:txBody>
      </p:sp>
      <p:sp>
        <p:nvSpPr>
          <p:cNvPr id="35" name="Shape 28"/>
          <p:cNvSpPr/>
          <p:nvPr/>
        </p:nvSpPr>
        <p:spPr>
          <a:xfrm>
            <a:off x="502920" y="3950208"/>
            <a:ext cx="3593592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22376" y="415137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279392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344168" y="4133088"/>
            <a:ext cx="1764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仕様・ドキュメント整備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3163824" y="4187952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163824" y="418795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RAG不要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722376" y="4736592"/>
            <a:ext cx="315468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740664" y="484632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古い・無い仕様書をコードから復元（リバース）。改修のたびに最新化。</a:t>
            </a:r>
            <a:endParaRPr lang="en-US" sz="1030" dirty="0"/>
          </a:p>
        </p:txBody>
      </p:sp>
      <p:sp>
        <p:nvSpPr>
          <p:cNvPr id="43" name="Shape 35"/>
          <p:cNvSpPr/>
          <p:nvPr/>
        </p:nvSpPr>
        <p:spPr>
          <a:xfrm>
            <a:off x="4297680" y="3950208"/>
            <a:ext cx="3593592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517136" y="415137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279392"/>
            <a:ext cx="256032" cy="25603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138928" y="4133088"/>
            <a:ext cx="1764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問い合わせ一次対応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6958584" y="4187952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6958584" y="418795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要RAG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4517136" y="4736592"/>
            <a:ext cx="315468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4535424" y="484632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Jira問い合わせの自動分類・一次回答。前回ご関心の領域（要RAG）。</a:t>
            </a:r>
            <a:endParaRPr lang="en-US" sz="1030" dirty="0"/>
          </a:p>
        </p:txBody>
      </p:sp>
      <p:sp>
        <p:nvSpPr>
          <p:cNvPr id="51" name="Shape 42"/>
          <p:cNvSpPr/>
          <p:nvPr/>
        </p:nvSpPr>
        <p:spPr>
          <a:xfrm>
            <a:off x="8092440" y="3950208"/>
            <a:ext cx="3593592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8311896" y="415137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279392"/>
            <a:ext cx="256032" cy="256032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8933688" y="4133088"/>
            <a:ext cx="1764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障害対応・ログ解析</a:t>
            </a:r>
            <a:endParaRPr lang="en-US" sz="1300" dirty="0"/>
          </a:p>
        </p:txBody>
      </p:sp>
      <p:sp>
        <p:nvSpPr>
          <p:cNvPr id="55" name="Shape 45"/>
          <p:cNvSpPr/>
          <p:nvPr/>
        </p:nvSpPr>
        <p:spPr>
          <a:xfrm>
            <a:off x="10753344" y="4187952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10753344" y="418795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要RAG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8311896" y="4736592"/>
            <a:ext cx="315468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8330184" y="484632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ログ・アラートをAIが要約し、原因候補と対応手順を提示。復旧を短縮。</a:t>
            </a:r>
            <a:endParaRPr lang="en-US" sz="1030" dirty="0"/>
          </a:p>
        </p:txBody>
      </p:sp>
      <p:sp>
        <p:nvSpPr>
          <p:cNvPr id="59" name="Text 49"/>
          <p:cNvSpPr/>
          <p:nvPr/>
        </p:nvSpPr>
        <p:spPr>
          <a:xfrm>
            <a:off x="502920" y="5632704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※「RAG不要」の4作業は事前準備なしで即着手可。「要RAG」の2作業（問い合わせ・障害）はRAGを小さく整えるほど精度が上がります。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伴走支援ロードマップ：完全自走（SI費ゼロ）まで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弊社の関与を段階的に減らし、最終的にSI関与ゼロ＝内製完結へ。各フェーズの支援内容・成果物を具体化します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4813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84248" y="1371600"/>
            <a:ext cx="2425446" cy="603504"/>
          </a:xfrm>
          <a:prstGeom prst="rect">
            <a:avLst/>
          </a:prstGeom>
          <a:solidFill>
            <a:srgbClr val="7FC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84248" y="1408176"/>
            <a:ext cx="24254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E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1  </a:t>
            </a:r>
            <a:pPr algn="ctr" indent="0" marL="0">
              <a:buNone/>
            </a:pPr>
            <a:r>
              <a:rPr lang="en-US" sz="1350" b="1" dirty="0">
                <a:solidFill>
                  <a:srgbClr val="2B3A4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84248" y="1737360"/>
            <a:ext cx="2425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5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目安：数週間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409694" y="1371600"/>
            <a:ext cx="2425446" cy="603504"/>
          </a:xfrm>
          <a:prstGeom prst="rect">
            <a:avLst/>
          </a:prstGeom>
          <a:solidFill>
            <a:srgbClr val="4FA6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09694" y="1408176"/>
            <a:ext cx="24254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9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2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並走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09694" y="1737360"/>
            <a:ext cx="2425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6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目安：1〜数か月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35140" y="1371600"/>
            <a:ext cx="2425446" cy="603504"/>
          </a:xfrm>
          <a:prstGeom prst="rect">
            <a:avLst/>
          </a:prstGeom>
          <a:solidFill>
            <a:srgbClr val="2E8F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5140" y="1408176"/>
            <a:ext cx="24254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9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3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自走支援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35140" y="1737360"/>
            <a:ext cx="2425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6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目安：数か月〜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260586" y="1371600"/>
            <a:ext cx="2425446" cy="603504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60586" y="1408176"/>
            <a:ext cx="24254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9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4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完全自走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60586" y="1737360"/>
            <a:ext cx="2425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6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到達後は継続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1975104"/>
            <a:ext cx="1481328" cy="914400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" y="1975104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弊社が提供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（主導）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984248" y="1975104"/>
            <a:ext cx="2425446" cy="914400"/>
          </a:xfrm>
          <a:prstGeom prst="rect">
            <a:avLst/>
          </a:prstGeom>
          <a:solidFill>
            <a:srgbClr val="F6F9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93976" y="2011680"/>
            <a:ext cx="22242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導入計画・対象選定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型/テンプレート・実行環境の提供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409694" y="1975104"/>
            <a:ext cx="2425446" cy="914400"/>
          </a:xfrm>
          <a:prstGeom prst="rect">
            <a:avLst/>
          </a:prstGeom>
          <a:solidFill>
            <a:srgbClr val="F6F9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19422" y="2011680"/>
            <a:ext cx="22242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レビュー・伴走支援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プロンプト/運用の改善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6835140" y="1975104"/>
            <a:ext cx="2425446" cy="914400"/>
          </a:xfrm>
          <a:prstGeom prst="rect">
            <a:avLst/>
          </a:prstGeom>
          <a:solidFill>
            <a:srgbClr val="F6F9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4868" y="2011680"/>
            <a:ext cx="22242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標準化・人材育成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必要時のみ技術支援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9260586" y="1975104"/>
            <a:ext cx="2425446" cy="914400"/>
          </a:xfrm>
          <a:prstGeom prst="rect">
            <a:avLst/>
          </a:prstGeom>
          <a:solidFill>
            <a:srgbClr val="EAF6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70314" y="2011680"/>
            <a:ext cx="22242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関与なし（必要時のみ単発支援）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2889504"/>
            <a:ext cx="1481328" cy="914400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6072" y="2889504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一緒にやる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（伴走）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984248" y="2889504"/>
            <a:ext cx="242544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93976" y="2926080"/>
            <a:ext cx="22242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PoCの設計と実施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AI活用ルールの整備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4409694" y="2889504"/>
            <a:ext cx="242544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19422" y="2926080"/>
            <a:ext cx="22242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最初の業務へ本適用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ナレッジ(RAG)を小さく整備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6835140" y="2889504"/>
            <a:ext cx="242544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44868" y="2926080"/>
            <a:ext cx="22242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他チーム・他業務へ横展開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品質/効果の測定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9260586" y="2889504"/>
            <a:ext cx="2425446" cy="914400"/>
          </a:xfrm>
          <a:prstGeom prst="rect">
            <a:avLst/>
          </a:prstGeom>
          <a:solidFill>
            <a:srgbClr val="EAF6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70314" y="2926080"/>
            <a:ext cx="22242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（弊社の常時関与は終了）</a:t>
            </a:r>
            <a:endParaRPr lang="en-US" sz="930" dirty="0"/>
          </a:p>
        </p:txBody>
      </p:sp>
      <p:sp>
        <p:nvSpPr>
          <p:cNvPr id="40" name="Shape 37"/>
          <p:cNvSpPr/>
          <p:nvPr/>
        </p:nvSpPr>
        <p:spPr>
          <a:xfrm>
            <a:off x="502920" y="3803904"/>
            <a:ext cx="1481328" cy="56692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6072" y="380390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お客様が担う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（内製）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1984248" y="3803904"/>
            <a:ext cx="2425446" cy="566928"/>
          </a:xfrm>
          <a:prstGeom prst="rect">
            <a:avLst/>
          </a:prstGeom>
          <a:solidFill>
            <a:srgbClr val="F6F9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093976" y="3840480"/>
            <a:ext cx="22242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進め方を体験して把握</a:t>
            </a:r>
            <a:endParaRPr lang="en-US" sz="930" dirty="0"/>
          </a:p>
        </p:txBody>
      </p:sp>
      <p:sp>
        <p:nvSpPr>
          <p:cNvPr id="44" name="Shape 41"/>
          <p:cNvSpPr/>
          <p:nvPr/>
        </p:nvSpPr>
        <p:spPr>
          <a:xfrm>
            <a:off x="4409694" y="3803904"/>
            <a:ext cx="2425446" cy="566928"/>
          </a:xfrm>
          <a:prstGeom prst="rect">
            <a:avLst/>
          </a:prstGeom>
          <a:solidFill>
            <a:srgbClr val="F6F9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19422" y="3840480"/>
            <a:ext cx="22242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AI活用を内製で運用開始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6835140" y="3803904"/>
            <a:ext cx="2425446" cy="566928"/>
          </a:xfrm>
          <a:prstGeom prst="rect">
            <a:avLst/>
          </a:prstGeom>
          <a:solidFill>
            <a:srgbClr val="F6F9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44868" y="3840480"/>
            <a:ext cx="22242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内製で運用・改善を主導</a:t>
            </a:r>
            <a:endParaRPr lang="en-US" sz="930" dirty="0"/>
          </a:p>
        </p:txBody>
      </p:sp>
      <p:sp>
        <p:nvSpPr>
          <p:cNvPr id="48" name="Shape 45"/>
          <p:cNvSpPr/>
          <p:nvPr/>
        </p:nvSpPr>
        <p:spPr>
          <a:xfrm>
            <a:off x="9260586" y="3803904"/>
            <a:ext cx="2425446" cy="566928"/>
          </a:xfrm>
          <a:prstGeom prst="rect">
            <a:avLst/>
          </a:prstGeom>
          <a:solidFill>
            <a:srgbClr val="EAF6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370314" y="3840480"/>
            <a:ext cx="22242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高度領域も含め内製で完結</a:t>
            </a:r>
            <a:endParaRPr lang="en-US" sz="930" dirty="0"/>
          </a:p>
        </p:txBody>
      </p:sp>
      <p:sp>
        <p:nvSpPr>
          <p:cNvPr id="50" name="Shape 47"/>
          <p:cNvSpPr/>
          <p:nvPr/>
        </p:nvSpPr>
        <p:spPr>
          <a:xfrm>
            <a:off x="502920" y="4370832"/>
            <a:ext cx="1481328" cy="786384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76072" y="4370832"/>
            <a:ext cx="1335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A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主な成果物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984248" y="4370832"/>
            <a:ext cx="242544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093976" y="4407408"/>
            <a:ext cx="22242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PoC結果・導入計画書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初期テンプレート一式</a:t>
            </a:r>
            <a:endParaRPr lang="en-US" sz="930" dirty="0"/>
          </a:p>
        </p:txBody>
      </p:sp>
      <p:sp>
        <p:nvSpPr>
          <p:cNvPr id="54" name="Shape 51"/>
          <p:cNvSpPr/>
          <p:nvPr/>
        </p:nvSpPr>
        <p:spPr>
          <a:xfrm>
            <a:off x="4409694" y="4370832"/>
            <a:ext cx="242544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19422" y="4407408"/>
            <a:ext cx="22242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運用手順・チェックリスト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FAQ/ナレッジ初版</a:t>
            </a:r>
            <a:endParaRPr lang="en-US" sz="930" dirty="0"/>
          </a:p>
        </p:txBody>
      </p:sp>
      <p:sp>
        <p:nvSpPr>
          <p:cNvPr id="56" name="Shape 53"/>
          <p:cNvSpPr/>
          <p:nvPr/>
        </p:nvSpPr>
        <p:spPr>
          <a:xfrm>
            <a:off x="6835140" y="4370832"/>
            <a:ext cx="242544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44868" y="4407408"/>
            <a:ext cx="22242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社内標準・育成資料</a:t>
            </a:r>
            <a:endParaRPr lang="en-US" sz="93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効果測定レポート</a:t>
            </a:r>
            <a:endParaRPr lang="en-US" sz="930" dirty="0"/>
          </a:p>
        </p:txBody>
      </p:sp>
      <p:sp>
        <p:nvSpPr>
          <p:cNvPr id="58" name="Shape 55"/>
          <p:cNvSpPr/>
          <p:nvPr/>
        </p:nvSpPr>
        <p:spPr>
          <a:xfrm>
            <a:off x="9260586" y="4370832"/>
            <a:ext cx="2425446" cy="786384"/>
          </a:xfrm>
          <a:prstGeom prst="rect">
            <a:avLst/>
          </a:prstGeom>
          <a:solidFill>
            <a:srgbClr val="EAF6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370314" y="4407408"/>
            <a:ext cx="22242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内製完結（SI契約終了）</a:t>
            </a:r>
            <a:endParaRPr lang="en-US" sz="930" dirty="0"/>
          </a:p>
        </p:txBody>
      </p:sp>
      <p:sp>
        <p:nvSpPr>
          <p:cNvPr id="60" name="Shape 57"/>
          <p:cNvSpPr/>
          <p:nvPr/>
        </p:nvSpPr>
        <p:spPr>
          <a:xfrm>
            <a:off x="502920" y="5157216"/>
            <a:ext cx="1481328" cy="512064"/>
          </a:xfrm>
          <a:prstGeom prst="rect">
            <a:avLst/>
          </a:prstGeom>
          <a:solidFill>
            <a:srgbClr val="98AE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76072" y="5157216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SI費（外部依存）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1984248" y="5157216"/>
            <a:ext cx="242544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112264" y="5349240"/>
            <a:ext cx="1465326" cy="128016"/>
          </a:xfrm>
          <a:prstGeom prst="roundRect">
            <a:avLst>
              <a:gd name="adj" fmla="val 50000"/>
            </a:avLst>
          </a:prstGeom>
          <a:solidFill>
            <a:srgbClr val="E3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112264" y="5349240"/>
            <a:ext cx="1465326" cy="128016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623310" y="515721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やや高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409694" y="5157216"/>
            <a:ext cx="242544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37710" y="5349240"/>
            <a:ext cx="1465326" cy="128016"/>
          </a:xfrm>
          <a:prstGeom prst="roundRect">
            <a:avLst>
              <a:gd name="adj" fmla="val 50000"/>
            </a:avLst>
          </a:prstGeom>
          <a:solidFill>
            <a:srgbClr val="E3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537710" y="5349240"/>
            <a:ext cx="908502" cy="128016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048756" y="515721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6835140" y="5157216"/>
            <a:ext cx="242544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963156" y="5349240"/>
            <a:ext cx="1465326" cy="128016"/>
          </a:xfrm>
          <a:prstGeom prst="roundRect">
            <a:avLst>
              <a:gd name="adj" fmla="val 50000"/>
            </a:avLst>
          </a:prstGeom>
          <a:solidFill>
            <a:srgbClr val="E3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963156" y="5349240"/>
            <a:ext cx="439598" cy="128016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474202" y="515721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低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9260586" y="5157216"/>
            <a:ext cx="2425446" cy="512064"/>
          </a:xfrm>
          <a:prstGeom prst="rect">
            <a:avLst/>
          </a:prstGeom>
          <a:solidFill>
            <a:srgbClr val="EAF6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388602" y="5349240"/>
            <a:ext cx="1465326" cy="128016"/>
          </a:xfrm>
          <a:prstGeom prst="roundRect">
            <a:avLst>
              <a:gd name="adj" fmla="val 50000"/>
            </a:avLst>
          </a:prstGeom>
          <a:solidFill>
            <a:srgbClr val="E3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388602" y="5349240"/>
            <a:ext cx="0" cy="128016"/>
          </a:xfrm>
          <a:prstGeom prst="roundRect">
            <a:avLst>
              <a:gd name="adj" fmla="val Infinity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899648" y="5157216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ゼロ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502920" y="5779008"/>
            <a:ext cx="11183112" cy="548640"/>
          </a:xfrm>
          <a:prstGeom prst="roundRect">
            <a:avLst>
              <a:gd name="adj" fmla="val 15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79" name="Text 76"/>
          <p:cNvSpPr/>
          <p:nvPr/>
        </p:nvSpPr>
        <p:spPr>
          <a:xfrm>
            <a:off x="822960" y="57790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支援の考え方：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「弊社が代行」→「一緒に実施」→「完全自走」へ。各フェーズの成果物を残し、最終的にSI費ゼロ（内製完結）を目指します。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内製の現実的なゴール設定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最終ゴールは「完全自走（SI関与ゼロ）」。ただし現実的に到達するには、段取りと前提条件が必要です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11183112" cy="749808"/>
          </a:xfrm>
          <a:prstGeom prst="roundRect">
            <a:avLst>
              <a:gd name="adj" fmla="val 10976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490472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60934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335024"/>
            <a:ext cx="10085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AFB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最終ゴール：</a:t>
            </a:r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日常の機能追加・運用保守を含め、高度領域も内製で完結。SIの常時関与はゼロ（契約終了、必要時のみ単発）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02920" y="2286000"/>
            <a:ext cx="65379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245059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内製で巻き取る範囲（現実的な順序）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77240" y="2889504"/>
            <a:ext cx="598932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5528" y="307238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" y="30723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まず内製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194560" y="3017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運用保守の一次対応・機能追加・テスト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194560" y="331012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効果が出やすく、手元の素材で回せる中心領域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95528" y="376732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5528" y="37673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次に内製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94560" y="371246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影響調査・設計補助・ナレッジ運用（RAG）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2194560" y="400507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標準化と育成が進めば内製で十分担える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95528" y="446227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95528" y="44622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最後に内製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194560" y="44074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方式設計・難易度の高い改修・基盤更改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2194560" y="470001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人材育成の到達後に巻き取り（完全自走の総仕上げ）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7296912" y="2286000"/>
            <a:ext cx="4389120" cy="2788920"/>
          </a:xfrm>
          <a:prstGeom prst="roundRect">
            <a:avLst>
              <a:gd name="adj" fmla="val 2951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7571232" y="2450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完全自走に必要な前提条件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7571232" y="2889504"/>
            <a:ext cx="3840480" cy="0"/>
          </a:xfrm>
          <a:prstGeom prst="line">
            <a:avLst/>
          </a:prstGeom>
          <a:noFill/>
          <a:ln w="12700">
            <a:solidFill>
              <a:srgbClr val="CDEAF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589520" y="303580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3136392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138160" y="299008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内製人材の育成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AIを使いこなす担当者を計画的に育成</a:t>
            </a:r>
            <a:endParaRPr lang="en-US" sz="1080" dirty="0"/>
          </a:p>
        </p:txBody>
      </p:sp>
      <p:sp>
        <p:nvSpPr>
          <p:cNvPr id="32" name="Shape 27"/>
          <p:cNvSpPr/>
          <p:nvPr/>
        </p:nvSpPr>
        <p:spPr>
          <a:xfrm>
            <a:off x="7589520" y="3547872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3648456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138160" y="350215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ナレッジの自走運用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RAGをお客様自身で更新・維持できる状態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7589520" y="405993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104" y="416052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138160" y="401421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標準・ルールの確立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AI活用の手順・品質基準・レビュー体制</a:t>
            </a:r>
            <a:endParaRPr lang="en-US" sz="1080" dirty="0"/>
          </a:p>
        </p:txBody>
      </p:sp>
      <p:sp>
        <p:nvSpPr>
          <p:cNvPr id="38" name="Shape 31"/>
          <p:cNvSpPr/>
          <p:nvPr/>
        </p:nvSpPr>
        <p:spPr>
          <a:xfrm>
            <a:off x="7589520" y="457200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104" y="4672584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138160" y="452628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改善が回る仕組み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効果測定と継続改善を内製で回せる</a:t>
            </a:r>
            <a:endParaRPr lang="en-US" sz="1080" dirty="0"/>
          </a:p>
        </p:txBody>
      </p:sp>
      <p:sp>
        <p:nvSpPr>
          <p:cNvPr id="41" name="Shape 33"/>
          <p:cNvSpPr/>
          <p:nvPr/>
        </p:nvSpPr>
        <p:spPr>
          <a:xfrm>
            <a:off x="502920" y="5285232"/>
            <a:ext cx="11183112" cy="822960"/>
          </a:xfrm>
          <a:prstGeom prst="roundRect">
            <a:avLst>
              <a:gd name="adj" fmla="val 11111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2" name="Text 34"/>
          <p:cNvSpPr/>
          <p:nvPr/>
        </p:nvSpPr>
        <p:spPr>
          <a:xfrm>
            <a:off x="822960" y="5285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現実的なゴールの置き方：</a:t>
            </a:r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「完全自走」を到達点に据えつつ、前提条件が整う順に範囲を広げる。弊社は前提づくり（育成・標準化）を支援し、整い次第ゼロへ。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伴走支援は「3つのアプローチ」から選べます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ご予算・体制・スピード感に合わせ、支援の進め方を選択（途中での切り替え・併用も可能）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481328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1737360"/>
            <a:ext cx="603504" cy="60350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28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7190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</a:t>
            </a:r>
            <a:pPr indent="0" marL="0">
              <a:buNone/>
            </a:pPr>
            <a:r>
              <a:rPr lang="en-US" sz="14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ハンズオン型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63040" y="206654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一緒に手を動かす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58952" y="2450592"/>
            <a:ext cx="3081528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3816" y="2560320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弊社が実装・構築を一緒に担当</a:t>
            </a:r>
            <a:endParaRPr lang="en-US" sz="10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短期で確実に立ち上げ</a:t>
            </a:r>
            <a:endParaRPr lang="en-US" sz="10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難しい部分も伴走でカバー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13816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弊社の関与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874520" y="382219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874520" y="382219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3816" y="4133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1874520" y="418795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874520" y="418795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3816" y="4498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立ち上げ速度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874520" y="455371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874520" y="455371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58952" y="4864608"/>
            <a:ext cx="3081528" cy="749808"/>
          </a:xfrm>
          <a:prstGeom prst="roundRect">
            <a:avLst>
              <a:gd name="adj" fmla="val 9756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05256" y="491947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向いているケース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立ち上げを急ぎたい／社内リソースが薄い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4297680" y="1481328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553712" y="1737360"/>
            <a:ext cx="603504" cy="60350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92808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57800" y="17190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</a:t>
            </a:r>
            <a:pPr indent="0" marL="0">
              <a:buNone/>
            </a:pPr>
            <a:r>
              <a:rPr lang="en-US" sz="14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伴走レビュー型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5257800" y="206654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お客様主体＋弊社が伴走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53712" y="2450592"/>
            <a:ext cx="3081528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608576" y="2560320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お客様が手を動かし弊社がレビュー</a:t>
            </a:r>
            <a:endParaRPr lang="en-US" sz="10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つまずきを都度支援</a:t>
            </a:r>
            <a:endParaRPr lang="en-US" sz="10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費用と内製化のバランス型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608576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弊社の関与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669280" y="382219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669280" y="3822192"/>
            <a:ext cx="1113739" cy="128016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608576" y="4133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669280" y="418795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669280" y="4187952"/>
            <a:ext cx="1113739" cy="128016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608576" y="4498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立ち上げ速度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669280" y="455371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669280" y="4553712"/>
            <a:ext cx="1113739" cy="128016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553712" y="4864608"/>
            <a:ext cx="3081528" cy="749808"/>
          </a:xfrm>
          <a:prstGeom prst="roundRect">
            <a:avLst>
              <a:gd name="adj" fmla="val 9756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700016" y="491947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向いているケース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コストと自走をバランスさせたい（標準）</a:t>
            </a:r>
            <a:endParaRPr lang="en-US" sz="980" dirty="0"/>
          </a:p>
        </p:txBody>
      </p:sp>
      <p:sp>
        <p:nvSpPr>
          <p:cNvPr id="43" name="Shape 38"/>
          <p:cNvSpPr/>
          <p:nvPr/>
        </p:nvSpPr>
        <p:spPr>
          <a:xfrm>
            <a:off x="8092440" y="1481328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8348472" y="1737360"/>
            <a:ext cx="603504" cy="60350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892808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9052560" y="17190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C. </a:t>
            </a:r>
            <a:pPr indent="0" marL="0">
              <a:buNone/>
            </a:pPr>
            <a:r>
              <a:rPr lang="en-US" sz="14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コーチ型</a:t>
            </a:r>
            <a:endParaRPr lang="en-US" sz="1450" dirty="0"/>
          </a:p>
        </p:txBody>
      </p:sp>
      <p:sp>
        <p:nvSpPr>
          <p:cNvPr id="47" name="Text 41"/>
          <p:cNvSpPr/>
          <p:nvPr/>
        </p:nvSpPr>
        <p:spPr>
          <a:xfrm>
            <a:off x="9052560" y="206654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教える・型を渡す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8348472" y="2450592"/>
            <a:ext cx="3081528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403336" y="2560320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研修・テンプレ提供が中心</a:t>
            </a:r>
            <a:endParaRPr lang="en-US" sz="10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お客様が自力で推進</a:t>
            </a:r>
            <a:endParaRPr lang="en-US" sz="10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最も低コストで内製を促進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8403336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弊社の関与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9464040" y="382219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9464040" y="3822192"/>
            <a:ext cx="556870" cy="128016"/>
          </a:xfrm>
          <a:prstGeom prst="roundRect">
            <a:avLst>
              <a:gd name="adj" fmla="val 50000"/>
            </a:avLst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403336" y="4133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9464040" y="418795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9464040" y="4187952"/>
            <a:ext cx="519745" cy="128016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8403336" y="4498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立ち上げ速度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9464040" y="4553712"/>
            <a:ext cx="1856232" cy="12801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9464040" y="4553712"/>
            <a:ext cx="649681" cy="128016"/>
          </a:xfrm>
          <a:prstGeom prst="roundRect">
            <a:avLst>
              <a:gd name="adj" fmla="val 50000"/>
            </a:avLst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8348472" y="4864608"/>
            <a:ext cx="3081528" cy="749808"/>
          </a:xfrm>
          <a:prstGeom prst="roundRect">
            <a:avLst>
              <a:gd name="adj" fmla="val 9756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8494776" y="491947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向いているケース</a:t>
            </a:r>
            <a:endParaRPr lang="en-US" sz="9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費用を最小化／自走志向が強い</a:t>
            </a:r>
            <a:endParaRPr lang="en-US" sz="980" dirty="0"/>
          </a:p>
        </p:txBody>
      </p:sp>
      <p:sp>
        <p:nvSpPr>
          <p:cNvPr id="61" name="Text 55"/>
          <p:cNvSpPr/>
          <p:nvPr/>
        </p:nvSpPr>
        <p:spPr>
          <a:xfrm>
            <a:off x="502920" y="5815584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関与度・SI費・速度はアプローチ間の相対イメージです。次ページ以降で各アプローチを詳しく説明します。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アプローチA：ハンズオン型（一緒に手を動かす）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弊社が実装・構築を一緒に担い、短期で確実に立ち上げます。リソースが薄くてもまず動かせます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65379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56362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支援の内容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1965960"/>
            <a:ext cx="598932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3816" y="2203704"/>
            <a:ext cx="109728" cy="109728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4984" y="209397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弊社が主体で実装・構築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ペアで開発しながら成果物を作る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3816" y="2880360"/>
            <a:ext cx="109728" cy="109728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4984" y="2770632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難所も一緒に突破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影響調査・設計・実装まで伴走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" y="3557016"/>
            <a:ext cx="109728" cy="109728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4984" y="344728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並行して進め方を移転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作業を見せながらやり方を共有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96912" y="1417320"/>
            <a:ext cx="4389120" cy="2788920"/>
          </a:xfrm>
          <a:prstGeom prst="roundRect">
            <a:avLst>
              <a:gd name="adj" fmla="val 2951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1232" y="1563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このアプローチの特性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71232" y="1965960"/>
            <a:ext cx="3840480" cy="0"/>
          </a:xfrm>
          <a:prstGeom prst="line">
            <a:avLst/>
          </a:prstGeom>
          <a:noFill/>
          <a:ln w="12700">
            <a:solidFill>
              <a:srgbClr val="CDEA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71232" y="2148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弊社の関与度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71232" y="2404872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71232" y="2404872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71232" y="2715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571232" y="2971800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71232" y="2971800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71232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立ち上げ速度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571232" y="3538728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1232" y="3538728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9224" y="4581144"/>
            <a:ext cx="292608" cy="292608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96696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弊社主導で構築・実装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09544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74136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520440" y="4581144"/>
            <a:ext cx="292608" cy="292608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2044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867912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お客様はペアで参加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80760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45352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391656" y="4581144"/>
            <a:ext cx="292608" cy="292608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91656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739128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成果物を引き渡し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951976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116568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9262872" y="4581144"/>
            <a:ext cx="292608" cy="292608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262872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9610344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徐々に主体を移す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02920" y="5358384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080" y="5431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7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13232" y="56692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立ち上げが速く確実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リソースが薄くても開始可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難易度の高い領域もカバー</a:t>
            </a:r>
            <a:endParaRPr lang="en-US" sz="930" dirty="0"/>
          </a:p>
        </p:txBody>
      </p:sp>
      <p:sp>
        <p:nvSpPr>
          <p:cNvPr id="51" name="Shape 48"/>
          <p:cNvSpPr/>
          <p:nvPr/>
        </p:nvSpPr>
        <p:spPr>
          <a:xfrm>
            <a:off x="4087368" y="5358384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224528" y="5431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1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留意点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297680" y="56692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初期のSI費は相対的に高め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意識しないと内製化が進みにくい</a:t>
            </a:r>
            <a:endParaRPr lang="en-US" sz="930" dirty="0"/>
          </a:p>
        </p:txBody>
      </p:sp>
      <p:sp>
        <p:nvSpPr>
          <p:cNvPr id="54" name="Shape 51"/>
          <p:cNvSpPr/>
          <p:nvPr/>
        </p:nvSpPr>
        <p:spPr>
          <a:xfrm>
            <a:off x="7671816" y="5358384"/>
            <a:ext cx="4014216" cy="1078992"/>
          </a:xfrm>
          <a:prstGeom prst="roundRect">
            <a:avLst>
              <a:gd name="adj" fmla="val 678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54696" y="544982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向いているケース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854696" y="5687568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立ち上げを急ぎたい／社内リソースが限られる／最初の成功体験を確実に作りたい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アプローチB：伴走レビュー型（お客様主体＋伴走）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お客様が手を動かし、弊社がレビュー・伴走で支えます。費用と内製化のバランスに優れた標準型です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65379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56362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支援の内容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1965960"/>
            <a:ext cx="598932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3816" y="220370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4984" y="209397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お客様が実装・運用を主導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弊社はレビューと助言で支援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3816" y="2880360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4984" y="2770632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つまずきを都度サポート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定例・チャットで質問に対応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" y="3557016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4984" y="344728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内製化を着実に前進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やりながら自走力を高める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96912" y="1417320"/>
            <a:ext cx="4389120" cy="2788920"/>
          </a:xfrm>
          <a:prstGeom prst="roundRect">
            <a:avLst>
              <a:gd name="adj" fmla="val 2951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1232" y="1563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このアプローチの特性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71232" y="1965960"/>
            <a:ext cx="3840480" cy="0"/>
          </a:xfrm>
          <a:prstGeom prst="line">
            <a:avLst/>
          </a:prstGeom>
          <a:noFill/>
          <a:ln w="12700">
            <a:solidFill>
              <a:srgbClr val="CDEA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71232" y="2148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弊社の関与度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71232" y="2404872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71232" y="2404872"/>
            <a:ext cx="2304288" cy="146304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71232" y="2715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571232" y="2971800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71232" y="2971800"/>
            <a:ext cx="2304288" cy="146304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71232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立ち上げ速度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571232" y="3538728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1232" y="3538728"/>
            <a:ext cx="2304288" cy="146304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9224" y="4581144"/>
            <a:ext cx="292608" cy="292608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96696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お客様が実装・運用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09544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74136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520440" y="4581144"/>
            <a:ext cx="292608" cy="29260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2044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867912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弊社がレビュー・助言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80760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45352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391656" y="4581144"/>
            <a:ext cx="292608" cy="29260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91656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739128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改善点を反映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951976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116568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9262872" y="4581144"/>
            <a:ext cx="292608" cy="29260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262872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9610344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自走範囲を拡大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02920" y="5358384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080" y="5431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7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13232" y="56692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コストと自走のバランスが良い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実務を通じて確実に定着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範囲を柔軟に調整できる</a:t>
            </a:r>
            <a:endParaRPr lang="en-US" sz="930" dirty="0"/>
          </a:p>
        </p:txBody>
      </p:sp>
      <p:sp>
        <p:nvSpPr>
          <p:cNvPr id="51" name="Shape 48"/>
          <p:cNvSpPr/>
          <p:nvPr/>
        </p:nvSpPr>
        <p:spPr>
          <a:xfrm>
            <a:off x="4087368" y="5358384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224528" y="5431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1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留意点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297680" y="56692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お客様側に一定の工数が必要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ハンズオンより立ち上げは緩やか</a:t>
            </a:r>
            <a:endParaRPr lang="en-US" sz="930" dirty="0"/>
          </a:p>
        </p:txBody>
      </p:sp>
      <p:sp>
        <p:nvSpPr>
          <p:cNvPr id="54" name="Shape 51"/>
          <p:cNvSpPr/>
          <p:nvPr/>
        </p:nvSpPr>
        <p:spPr>
          <a:xfrm>
            <a:off x="7671816" y="5358384"/>
            <a:ext cx="4014216" cy="1078992"/>
          </a:xfrm>
          <a:prstGeom prst="roundRect">
            <a:avLst>
              <a:gd name="adj" fmla="val 678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54696" y="544982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向いているケース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854696" y="5687568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コストを抑えつつ着実に内製化したい／実務を通じて育成したい（おすすめの標準型）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アプローチC：コーチ型（教える・型を渡す）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研修と型（テンプレート）の提供が中心。最小コストでお客様の自走を後押しします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65379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56362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支援の内容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1965960"/>
            <a:ext cx="598932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3816" y="2203704"/>
            <a:ext cx="109728" cy="109728"/>
          </a:xfrm>
          <a:prstGeom prst="ellipse">
            <a:avLst/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4984" y="209397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研修・ガイドの提供が中心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AI活用の手順や勘所を伝える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3816" y="2880360"/>
            <a:ext cx="109728" cy="109728"/>
          </a:xfrm>
          <a:prstGeom prst="ellipse">
            <a:avLst/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4984" y="2770632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型・テンプレートを提供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そのまま使える雛形を渡す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" y="3557016"/>
            <a:ext cx="109728" cy="109728"/>
          </a:xfrm>
          <a:prstGeom prst="ellipse">
            <a:avLst/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4984" y="344728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お客様が自力で推進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—  弊社は要所のみ確認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96912" y="1417320"/>
            <a:ext cx="4389120" cy="2788920"/>
          </a:xfrm>
          <a:prstGeom prst="roundRect">
            <a:avLst>
              <a:gd name="adj" fmla="val 2951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1232" y="1563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このアプローチの特性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571232" y="1965960"/>
            <a:ext cx="3840480" cy="0"/>
          </a:xfrm>
          <a:prstGeom prst="line">
            <a:avLst/>
          </a:prstGeom>
          <a:noFill/>
          <a:ln w="12700">
            <a:solidFill>
              <a:srgbClr val="CDEA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71232" y="2148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弊社の関与度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71232" y="2404872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71232" y="2404872"/>
            <a:ext cx="1152144" cy="146304"/>
          </a:xfrm>
          <a:prstGeom prst="roundRect">
            <a:avLst>
              <a:gd name="adj" fmla="val 50000"/>
            </a:avLst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71232" y="2715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571232" y="2971800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71232" y="2971800"/>
            <a:ext cx="1075334" cy="146304"/>
          </a:xfrm>
          <a:prstGeom prst="roundRect">
            <a:avLst>
              <a:gd name="adj" fmla="val 50000"/>
            </a:avLst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71232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立ち上げ速度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571232" y="3538728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1232" y="3538728"/>
            <a:ext cx="1344168" cy="146304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9224" y="4581144"/>
            <a:ext cx="292608" cy="292608"/>
          </a:xfrm>
          <a:prstGeom prst="ellipse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96696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研修・型の提供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09544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74136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520440" y="4581144"/>
            <a:ext cx="292608" cy="292608"/>
          </a:xfrm>
          <a:prstGeom prst="ellipse">
            <a:avLst/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2044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867912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お客様が自力で実践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80760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45352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391656" y="4581144"/>
            <a:ext cx="292608" cy="292608"/>
          </a:xfrm>
          <a:prstGeom prst="ellipse">
            <a:avLst/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91656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739128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要所で弊社が確認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951976" y="4645152"/>
            <a:ext cx="128016" cy="164592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116568" y="4370832"/>
            <a:ext cx="26700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9262872" y="4581144"/>
            <a:ext cx="292608" cy="292608"/>
          </a:xfrm>
          <a:prstGeom prst="ellipse">
            <a:avLst/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262872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9610344" y="4370832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自走で運用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02920" y="5358384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080" y="5431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7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メリット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13232" y="56692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最も低コスト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自走力が最短で育つ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短時間の関与で開始できる</a:t>
            </a:r>
            <a:endParaRPr lang="en-US" sz="930" dirty="0"/>
          </a:p>
        </p:txBody>
      </p:sp>
      <p:sp>
        <p:nvSpPr>
          <p:cNvPr id="51" name="Shape 48"/>
          <p:cNvSpPr/>
          <p:nvPr/>
        </p:nvSpPr>
        <p:spPr>
          <a:xfrm>
            <a:off x="4087368" y="5358384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224528" y="5431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1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留意点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297680" y="566928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お客様の主体性・体力が前提</a:t>
            </a:r>
            <a:endParaRPr lang="en-US" sz="93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難所は別途支援が必要な場合あり</a:t>
            </a:r>
            <a:endParaRPr lang="en-US" sz="930" dirty="0"/>
          </a:p>
        </p:txBody>
      </p:sp>
      <p:sp>
        <p:nvSpPr>
          <p:cNvPr id="54" name="Shape 51"/>
          <p:cNvSpPr/>
          <p:nvPr/>
        </p:nvSpPr>
        <p:spPr>
          <a:xfrm>
            <a:off x="7671816" y="5358384"/>
            <a:ext cx="4014216" cy="1078992"/>
          </a:xfrm>
          <a:prstGeom prst="roundRect">
            <a:avLst>
              <a:gd name="adj" fmla="val 678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54696" y="544982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向いているケース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854696" y="5687568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費用を最小化したい／既に技術力があり自走志向が強い／まず小さく試したい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まずは「始めやすい領域」から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効果が見えやすく、限定スコープで試せる工程からAI活用を開始します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1737360"/>
            <a:ext cx="603504" cy="60350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8928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17007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</a:t>
            </a:r>
            <a:endParaRPr lang="en-US" sz="16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（Jira問い合わせ）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26280" y="177393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26280" y="17739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14400" y="2542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対象工程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14400" y="27706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ユーザーからの問い合わせ一次対応（社内業務アプリ）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14400" y="32826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AIが担うこと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14400" y="35112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チケットの自動分類・優先度付け、過去事例を参照した一次回答ドラフト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14400" y="40233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始めやすい理由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42519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既に運用中で、過去チケットをそのまま学習データに活用できる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91440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14400" y="499262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一次対応工数の削減、対応品質の均一化、属人化の解消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17920" y="14630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510528" y="1737360"/>
            <a:ext cx="603504" cy="60350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1888236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69480" y="17373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開発・テストの一部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6583680" y="2542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対象工程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583680" y="27706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定型的な実装とテスト（既存の開発フロー内）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583680" y="32826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AIが担うこと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583680" y="35112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テストコード・テストケース生成、コードレビュー補助、定型実装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583680" y="40233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始めやすい理由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583680" y="42519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範囲を限定でき、今の開発プロセスに追加するだけで試せる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58368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583680" y="499262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開発・テスト工数の削減、レビュー品質の底上げ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48640" y="56875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まず①で効果を確認し、②へ広げていくのがおすすめです。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内製化のゴールと、そこへ至るロードマップ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「お客様が自前で巻き取る範囲」をゴールに定め、段階的に到達します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3502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517904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3677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33502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ゴール（内製化の到達点）：</a:t>
            </a:r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運用保守の一次対応と定型的な開発・テストを、お客様の内製チームで完結できる状態へ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82880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小さく始める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4980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4980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運用保守の一次受け（Jira）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4980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4980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一次回答の運用・改善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4980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4980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初期構築・型提供（大）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10896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8328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56616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6616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66344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広げる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358444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58444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開発・テストの一部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8444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58444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定型開発・テストをAIで内製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58444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58444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拡張支援・伴走（中）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94360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21792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40080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749808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定着させる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641908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41908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適用範囲を複数チームへ拡大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41908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41908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AI活用が定着し標準化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41908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41908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必要時のみスポット（小）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877824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052560" y="2395728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8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10021824" y="2633472"/>
            <a:ext cx="603504" cy="60350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2788920"/>
            <a:ext cx="292608" cy="292608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052560" y="33101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800" dirty="0"/>
          </a:p>
        </p:txBody>
      </p:sp>
      <p:sp>
        <p:nvSpPr>
          <p:cNvPr id="48" name="Text 43"/>
          <p:cNvSpPr/>
          <p:nvPr/>
        </p:nvSpPr>
        <p:spPr>
          <a:xfrm>
            <a:off x="9253728" y="3694176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内製で「一次対応＋定型開発・テスト」を完結</a:t>
            </a:r>
            <a:endParaRPr lang="en-US" sz="10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SIは高度・例外領域に集中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54864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内製でカバーできる範囲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54864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548640" y="5175504"/>
            <a:ext cx="635508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38328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383280" y="5175504"/>
            <a:ext cx="1398118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621792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217920" y="5175504"/>
            <a:ext cx="2033626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05256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05256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548640" y="54132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10680192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大（自走）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ご懸念への回答：ナレッジベースは「ゼロから」作りません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既存資産を活かし、小さく始め、型を使うことで、構築にかかるSI費用を抑えます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26187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CF1E3"/>
          </a:solidFill>
          <a:ln w="12700">
            <a:solidFill>
              <a:srgbClr val="EBC7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39903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C7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1790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26187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91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　</a:t>
            </a:r>
            <a:pPr indent="0" marL="0">
              <a:buNone/>
            </a:pPr>
            <a:r>
              <a:rPr lang="en-US" sz="1450" b="1" dirty="0">
                <a:solidFill>
                  <a:srgbClr val="8A5A1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「ナレッジベースをゼロから構築すると、SI費用がかさむのでは？」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0292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48132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7889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既存資産を活用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4066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Jiraの過去チケット・既存マニュアル・設計書をAIが読み込みナレッジ化。ゼロからの棚卸しを大幅削減。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338328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36168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78892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2044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小さく始める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62102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問い合わせの多い領域から構築し、精度を確認しながら拡大。最初から全社網羅は目指しません。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26364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4204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27889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型を活用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50138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取り込み・分類・回答生成の構築テンプレートを流用し、設計・実装のSI工数を圧縮します。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914400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12240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4" y="278892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28116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内製で拡張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938174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運用しながらお客様自身でナレッジを追加・改善。属人化せず継続SI費を抑制します。</a:t>
            </a:r>
            <a:endParaRPr lang="en-US" sz="1080" dirty="0"/>
          </a:p>
        </p:txBody>
      </p:sp>
      <p:sp>
        <p:nvSpPr>
          <p:cNvPr id="31" name="Shape 23"/>
          <p:cNvSpPr/>
          <p:nvPr/>
        </p:nvSpPr>
        <p:spPr>
          <a:xfrm>
            <a:off x="548640" y="528523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822960" y="5285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「一括構築」ではなく「既存活用＋段階構築」で、初期費用とリスクを最小化します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コストと内製化の見通し（イメージ）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大きな初期投資を避け、効果を確認しながら段階的に。外部依存（SI費）は徐々に逓減します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508760" y="2240280"/>
            <a:ext cx="0" cy="2697480"/>
          </a:xfrm>
          <a:prstGeom prst="line">
            <a:avLst/>
          </a:prstGeom>
          <a:noFill/>
          <a:ln w="15875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1170432" y="21214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70432" y="473659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08760" y="4937760"/>
            <a:ext cx="580644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21408" y="2697480"/>
            <a:ext cx="548640" cy="224028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16352" y="4114800"/>
            <a:ext cx="548640" cy="82296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950208" y="3520440"/>
            <a:ext cx="548640" cy="141732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3291840"/>
            <a:ext cx="548640" cy="164592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79008" y="4251960"/>
            <a:ext cx="548640" cy="68580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73952" y="2514600"/>
            <a:ext cx="548640" cy="242316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828800" y="1371600"/>
            <a:ext cx="237744" cy="237744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30552" y="13350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弊社(SI)の関与・費用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26280" y="1371600"/>
            <a:ext cx="237744" cy="237744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13350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内製でカバーできる範囲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508760" y="532180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概念イメージです（実際の費用・比率は対象範囲により異なります）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818120" y="1371600"/>
            <a:ext cx="37947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092440" y="1600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コスト構造の変化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092440" y="2084832"/>
            <a:ext cx="324612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10728" y="234086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30184" y="224942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型（テンプレート）活用で立ち上げ費用を圧縮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110728" y="320954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0184" y="311810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中期：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内製化が進み、外部委託費が逓減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10728" y="407822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30184" y="398678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SIは高度・例外領域のみ。固定的なSI費を変動費化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598932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投資は段階的、効果は早期から。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コスト削減という経営課題と両立しながら、内製化を進められます。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次の一歩：スモールスタートのご提案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まずは効果の見えやすい「運用保守の一次受け（Jira）」から、限定スコープで始めませんか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87552" y="1837944"/>
            <a:ext cx="457200" cy="457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7276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対象業務の選定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7276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AIに任せる業務を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一緒に洗い出し・優先度付け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78224" y="1965960"/>
            <a:ext cx="347472" cy="201168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36592" y="1837944"/>
            <a:ext cx="457200" cy="457200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2180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PoC（限定検証）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2180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一次受け(Jira)などで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小さく効果を検証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27264" y="1965960"/>
            <a:ext cx="347472" cy="201168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85632" y="1837944"/>
            <a:ext cx="457200" cy="457200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8563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07084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効果評価・拡大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07084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効果を測定し、次の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適用範囲と内製化計画を策定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9260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22960" y="3182112"/>
            <a:ext cx="493776" cy="493776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3305556"/>
            <a:ext cx="246888" cy="2468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44752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弊社の役割（伴走支援）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1005840" y="3749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初期セットアップと型（テンプレート）の提供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ナレッジ整備とAI活用の定着を支援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内製化に向けた運用ルール・体制づくり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217920" y="29260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92240" y="318211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3305556"/>
            <a:ext cx="246888" cy="2468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114032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PoCの想定（例）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6675120" y="3749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スコープ：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運用保守の一次受け（Jira）を1領域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675120" y="4059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数週間〜（スコープに応じて）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6675120" y="4370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評価指標：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一次回答の自動化率／一次対応時間の削減率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まずは対象業務の洗い出しから、ご一緒させてください。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822960" y="5504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貴社の状況に合わせて、最小限のスコープからご提案します。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AI駆動開発 段階的導入のご提案</dc:title>
  <dc:subject>PptxGenJS Presentation</dc:subject>
  <dc:creator>PptxGenJS</dc:creator>
  <cp:lastModifiedBy>PptxGenJS</cp:lastModifiedBy>
  <cp:revision>1</cp:revision>
  <dcterms:created xsi:type="dcterms:W3CDTF">2026-06-21T15:19:33Z</dcterms:created>
  <dcterms:modified xsi:type="dcterms:W3CDTF">2026-06-21T15:19:33Z</dcterms:modified>
</cp:coreProperties>
</file>